
<file path=[Content_Types].xml><?xml version="1.0" encoding="utf-8"?>
<Types xmlns="http://schemas.openxmlformats.org/package/2006/content-types">
  <Default Extension="jpeg" ContentType="image/jpe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9" r:id="rId3"/>
    <p:sldId id="261" r:id="rId4"/>
    <p:sldId id="260" r:id="rId5"/>
    <p:sldId id="263" r:id="rId6"/>
    <p:sldId id="266" r:id="rId7"/>
    <p:sldId id="267" r:id="rId8"/>
    <p:sldId id="262" r:id="rId9"/>
    <p:sldId id="270" r:id="rId10"/>
    <p:sldId id="287" r:id="rId11"/>
    <p:sldId id="289" r:id="rId12"/>
    <p:sldId id="290" r:id="rId13"/>
    <p:sldId id="288" r:id="rId14"/>
    <p:sldId id="272"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409"/>
    <a:srgbClr val="9E211B"/>
    <a:srgbClr val="E3D2AE"/>
    <a:srgbClr val="DAECF7"/>
    <a:srgbClr val="C7020C"/>
    <a:srgbClr val="C91324"/>
    <a:srgbClr val="162F81"/>
    <a:srgbClr val="8A3E7E"/>
    <a:srgbClr val="4268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1" autoAdjust="0"/>
    <p:restoredTop sz="94660"/>
  </p:normalViewPr>
  <p:slideViewPr>
    <p:cSldViewPr snapToGrid="0">
      <p:cViewPr>
        <p:scale>
          <a:sx n="66" d="100"/>
          <a:sy n="66" d="100"/>
        </p:scale>
        <p:origin x="180" y="-1374"/>
      </p:cViewPr>
      <p:guideLst>
        <p:guide orient="horz" pos="2174"/>
        <p:guide pos="3840"/>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false"/>
  <c:lang val="zh-CN"/>
  <c:roundedCorners val="false"/>
  <mc:AlternateContent xmlns:mc="http://schemas.openxmlformats.org/markup-compatibility/2006">
    <mc:Choice xmlns:c14="http://schemas.microsoft.com/office/drawing/2007/8/2/chart" Requires="c14">
      <c14:style val="102"/>
    </mc:Choice>
    <mc:Fallback>
      <c:style val="2"/>
    </mc:Fallback>
  </mc:AlternateContent>
  <c:chart>
    <c:title>
      <c:layout/>
      <c:overlay val="false"/>
      <c:spPr>
        <a:noFill/>
        <a:ln>
          <a:noFill/>
        </a:ln>
        <a:effectLst/>
      </c:spPr>
      <c:txPr>
        <a:bodyPr rot="0" spcFirstLastPara="0" vertOverflow="ellipsis" vert="horz" wrap="square" anchor="ctr" anchorCtr="true"/>
        <a:lstStyle/>
        <a:p>
          <a:pPr>
            <a:defRPr lang="zh-CN" sz="1400" b="0" i="0" u="none" strike="noStrike" kern="1200" spc="0" baseline="0">
              <a:solidFill>
                <a:schemeClr val="tx1">
                  <a:lumMod val="65000"/>
                  <a:lumOff val="35000"/>
                </a:schemeClr>
              </a:solidFill>
              <a:latin typeface="+mn-lt"/>
              <a:ea typeface="+mn-ea"/>
              <a:cs typeface="+mn-cs"/>
            </a:defRPr>
          </a:pPr>
        </a:p>
      </c:txPr>
    </c:title>
    <c:autoTitleDeleted val="false"/>
    <c:plotArea>
      <c:layout>
        <c:manualLayout>
          <c:layoutTarget val="inner"/>
          <c:xMode val="edge"/>
          <c:yMode val="edge"/>
          <c:x val="0.05686"/>
          <c:y val="0.192133333333333"/>
          <c:w val="0.93994"/>
          <c:h val="0.76712"/>
        </c:manualLayout>
      </c:layout>
      <c:barChart>
        <c:barDir val="col"/>
        <c:grouping val="clustered"/>
        <c:varyColors val="false"/>
        <c:ser>
          <c:idx val="0"/>
          <c:order val="0"/>
          <c:tx>
            <c:strRef>
              <c:f>Sheet1!$B$1</c:f>
              <c:strCache>
                <c:ptCount val="1"/>
                <c:pt idx="0">
                  <c:v>第一产业</c:v>
                </c:pt>
              </c:strCache>
            </c:strRef>
          </c:tx>
          <c:spPr>
            <a:solidFill>
              <a:schemeClr val="accent1"/>
            </a:solidFill>
            <a:ln>
              <a:noFill/>
            </a:ln>
            <a:effectLst/>
          </c:spPr>
          <c:invertIfNegative val="false"/>
          <c:dLbls>
            <c:delete val="true"/>
          </c:dLbls>
          <c:cat>
            <c:numRef>
              <c:f>Sheet1!$A$2:$A$5</c:f>
              <c:numCache>
                <c:formatCode>General</c:formatCode>
                <c:ptCount val="4"/>
                <c:pt idx="0">
                  <c:v>1978</c:v>
                </c:pt>
                <c:pt idx="1">
                  <c:v>1985</c:v>
                </c:pt>
                <c:pt idx="2">
                  <c:v>1990</c:v>
                </c:pt>
                <c:pt idx="3">
                  <c:v>1995</c:v>
                </c:pt>
              </c:numCache>
            </c:numRef>
          </c:cat>
          <c:val>
            <c:numRef>
              <c:f>Sheet1!$B$2:$B$5</c:f>
              <c:numCache>
                <c:formatCode>General</c:formatCode>
                <c:ptCount val="4"/>
                <c:pt idx="0">
                  <c:v>28.2</c:v>
                </c:pt>
                <c:pt idx="1">
                  <c:v>28.4</c:v>
                </c:pt>
                <c:pt idx="2">
                  <c:v>27.1</c:v>
                </c:pt>
                <c:pt idx="3">
                  <c:v>20.1</c:v>
                </c:pt>
              </c:numCache>
            </c:numRef>
          </c:val>
        </c:ser>
        <c:ser>
          <c:idx val="1"/>
          <c:order val="1"/>
          <c:tx>
            <c:strRef>
              <c:f>Sheet1!$C$1</c:f>
              <c:strCache>
                <c:ptCount val="1"/>
                <c:pt idx="0">
                  <c:v>第二产业</c:v>
                </c:pt>
              </c:strCache>
            </c:strRef>
          </c:tx>
          <c:spPr>
            <a:solidFill>
              <a:schemeClr val="accent2"/>
            </a:solidFill>
            <a:ln>
              <a:noFill/>
            </a:ln>
            <a:effectLst/>
          </c:spPr>
          <c:invertIfNegative val="false"/>
          <c:dLbls>
            <c:delete val="true"/>
          </c:dLbls>
          <c:cat>
            <c:numRef>
              <c:f>Sheet1!$A$2:$A$5</c:f>
              <c:numCache>
                <c:formatCode>General</c:formatCode>
                <c:ptCount val="4"/>
                <c:pt idx="0">
                  <c:v>1978</c:v>
                </c:pt>
                <c:pt idx="1">
                  <c:v>1985</c:v>
                </c:pt>
                <c:pt idx="2">
                  <c:v>1990</c:v>
                </c:pt>
                <c:pt idx="3">
                  <c:v>1995</c:v>
                </c:pt>
              </c:numCache>
            </c:numRef>
          </c:cat>
          <c:val>
            <c:numRef>
              <c:f>Sheet1!$C$2:$C$5</c:f>
              <c:numCache>
                <c:formatCode>General</c:formatCode>
                <c:ptCount val="4"/>
                <c:pt idx="0">
                  <c:v>2.4</c:v>
                </c:pt>
                <c:pt idx="1">
                  <c:v>4.4</c:v>
                </c:pt>
                <c:pt idx="2">
                  <c:v>1.8</c:v>
                </c:pt>
                <c:pt idx="3">
                  <c:v>2.8</c:v>
                </c:pt>
              </c:numCache>
            </c:numRef>
          </c:val>
        </c:ser>
        <c:ser>
          <c:idx val="2"/>
          <c:order val="2"/>
          <c:tx>
            <c:strRef>
              <c:f>Sheet1!$D$1</c:f>
              <c:strCache>
                <c:ptCount val="1"/>
                <c:pt idx="0">
                  <c:v>第三产业</c:v>
                </c:pt>
              </c:strCache>
            </c:strRef>
          </c:tx>
          <c:spPr>
            <a:solidFill>
              <a:schemeClr val="accent3"/>
            </a:solidFill>
            <a:ln>
              <a:noFill/>
            </a:ln>
            <a:effectLst/>
          </c:spPr>
          <c:invertIfNegative val="false"/>
          <c:dLbls>
            <c:delete val="true"/>
          </c:dLbls>
          <c:cat>
            <c:numRef>
              <c:f>Sheet1!$A$2:$A$5</c:f>
              <c:numCache>
                <c:formatCode>General</c:formatCode>
                <c:ptCount val="4"/>
                <c:pt idx="0">
                  <c:v>1978</c:v>
                </c:pt>
                <c:pt idx="1">
                  <c:v>1985</c:v>
                </c:pt>
                <c:pt idx="2">
                  <c:v>1990</c:v>
                </c:pt>
                <c:pt idx="3">
                  <c:v>1995</c:v>
                </c:pt>
              </c:numCache>
            </c:numRef>
          </c:cat>
          <c:val>
            <c:numRef>
              <c:f>Sheet1!$D$2:$D$5</c:f>
              <c:numCache>
                <c:formatCode>General</c:formatCode>
                <c:ptCount val="4"/>
                <c:pt idx="0">
                  <c:v>2</c:v>
                </c:pt>
                <c:pt idx="1">
                  <c:v>2</c:v>
                </c:pt>
                <c:pt idx="2">
                  <c:v>3</c:v>
                </c:pt>
                <c:pt idx="3">
                  <c:v>5</c:v>
                </c:pt>
              </c:numCache>
            </c:numRef>
          </c:val>
        </c:ser>
        <c:dLbls>
          <c:showLegendKey val="false"/>
          <c:showVal val="false"/>
          <c:showCatName val="false"/>
          <c:showSerName val="false"/>
          <c:showPercent val="false"/>
          <c:showBubbleSize val="false"/>
        </c:dLbls>
        <c:gapWidth val="219"/>
        <c:overlap val="-27"/>
        <c:axId val="500900448"/>
        <c:axId val="306452278"/>
      </c:barChart>
      <c:catAx>
        <c:axId val="500900448"/>
        <c:scaling>
          <c:orientation val="minMax"/>
        </c:scaling>
        <c:delete val="false"/>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true"/>
          <a:lstStyle/>
          <a:p>
            <a:pPr>
              <a:defRPr lang="zh-CN" sz="900" b="0" i="0" u="none" strike="noStrike" kern="1200" baseline="0">
                <a:solidFill>
                  <a:schemeClr val="tx1">
                    <a:lumMod val="65000"/>
                    <a:lumOff val="35000"/>
                  </a:schemeClr>
                </a:solidFill>
                <a:latin typeface="+mn-lt"/>
                <a:ea typeface="+mn-ea"/>
                <a:cs typeface="+mn-cs"/>
              </a:defRPr>
            </a:pPr>
          </a:p>
        </c:txPr>
        <c:crossAx val="306452278"/>
        <c:crosses val="autoZero"/>
        <c:auto val="true"/>
        <c:lblAlgn val="ctr"/>
        <c:lblOffset val="100"/>
        <c:noMultiLvlLbl val="false"/>
      </c:catAx>
      <c:valAx>
        <c:axId val="306452278"/>
        <c:scaling>
          <c:orientation val="minMax"/>
        </c:scaling>
        <c:delete val="false"/>
        <c:axPos val="l"/>
        <c:majorGridlines>
          <c:spPr>
            <a:ln w="9525" cap="flat" cmpd="sng" algn="ctr">
              <a:solidFill>
                <a:schemeClr val="tx1">
                  <a:lumMod val="15000"/>
                  <a:lumOff val="85000"/>
                </a:schemeClr>
              </a:solidFill>
              <a:round/>
            </a:ln>
            <a:effectLst/>
          </c:spPr>
        </c:majorGridlines>
        <c:numFmt formatCode="General" sourceLinked="true"/>
        <c:majorTickMark val="none"/>
        <c:minorTickMark val="none"/>
        <c:tickLblPos val="nextTo"/>
        <c:spPr>
          <a:noFill/>
          <a:ln>
            <a:noFill/>
          </a:ln>
          <a:effectLst/>
        </c:spPr>
        <c:txPr>
          <a:bodyPr rot="-60000000" spcFirstLastPara="0" vertOverflow="ellipsis" vert="horz" wrap="square" anchor="ctr" anchorCtr="true"/>
          <a:lstStyle/>
          <a:p>
            <a:pPr>
              <a:defRPr lang="zh-CN" sz="900" b="0" i="0" u="none" strike="noStrike" kern="1200" baseline="0">
                <a:solidFill>
                  <a:schemeClr val="tx1">
                    <a:lumMod val="65000"/>
                    <a:lumOff val="35000"/>
                  </a:schemeClr>
                </a:solidFill>
                <a:latin typeface="+mn-lt"/>
                <a:ea typeface="+mn-ea"/>
                <a:cs typeface="+mn-cs"/>
              </a:defRPr>
            </a:pPr>
          </a:p>
        </c:txPr>
        <c:crossAx val="500900448"/>
        <c:crosses val="autoZero"/>
        <c:crossBetween val="between"/>
      </c:valAx>
      <c:spPr>
        <a:noFill/>
        <a:ln>
          <a:noFill/>
        </a:ln>
        <a:effectLst/>
      </c:spPr>
    </c:plotArea>
    <c:legend>
      <c:legendPos val="b"/>
      <c:layout/>
      <c:overlay val="false"/>
      <c:spPr>
        <a:noFill/>
        <a:ln>
          <a:noFill/>
        </a:ln>
        <a:effectLst/>
      </c:spPr>
      <c:txPr>
        <a:bodyPr rot="0" spcFirstLastPara="0" vertOverflow="ellipsis" vert="horz" wrap="square" anchor="ctr" anchorCtr="true"/>
        <a:lstStyle/>
        <a:p>
          <a:pPr>
            <a:defRPr lang="zh-CN" sz="900" b="0" i="0" u="none" strike="noStrike" kern="1200" baseline="0">
              <a:solidFill>
                <a:schemeClr val="tx1">
                  <a:lumMod val="65000"/>
                  <a:lumOff val="35000"/>
                </a:schemeClr>
              </a:solidFill>
              <a:latin typeface="+mn-lt"/>
              <a:ea typeface="+mn-ea"/>
              <a:cs typeface="+mn-cs"/>
            </a:defRPr>
          </a:pPr>
        </a:p>
      </c:txPr>
    </c:legend>
    <c:plotVisOnly val="true"/>
    <c:dispBlanksAs val="gap"/>
    <c:showDLblsOverMax val="false"/>
  </c:chart>
  <c:spPr>
    <a:noFill/>
    <a:ln>
      <a:noFill/>
    </a:ln>
    <a:effectLst/>
  </c:spPr>
  <c:txPr>
    <a:bodyPr/>
    <a:lstStyle/>
    <a:p>
      <a:pPr>
        <a:defRPr lang="zh-CN"/>
      </a:pPr>
    </a:p>
  </c:txPr>
  <c:externalData r:id="rId1">
    <c:autoUpdate val="false"/>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true">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true"/>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true"/>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401CE9-1DC0-4C83-8989-55D7EBB0FD6D}" type="datetimeFigureOut">
              <a:rPr lang="zh-CN" altLang="en-US" smtClean="0"/>
            </a:fld>
            <a:endParaRPr lang="zh-CN" altLang="en-US"/>
          </a:p>
        </p:txBody>
      </p:sp>
      <p:sp>
        <p:nvSpPr>
          <p:cNvPr id="4" name="幻灯片图像占位符 3"/>
          <p:cNvSpPr>
            <a:spLocks noGrp="true" noRot="true" noChangeAspect="true"/>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true"/>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true"/>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true"/>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95C507-321A-46E9-B975-A87A6930F64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3" name="图片 2"/>
          <p:cNvPicPr>
            <a:picLocks noChangeAspect="true"/>
          </p:cNvPicPr>
          <p:nvPr userDrawn="true"/>
        </p:nvPicPr>
        <p:blipFill rotWithShape="true">
          <a:blip r:embed="rId2" cstate="screen"/>
          <a:srcRect l="4532" r="6596"/>
          <a:stretch>
            <a:fillRect/>
          </a:stretch>
        </p:blipFill>
        <p:spPr>
          <a:xfrm>
            <a:off x="0" y="0"/>
            <a:ext cx="12192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showMasterSp="0">
  <p:cSld name="1_标题幻灯片">
    <p:bg>
      <p:bgRef idx="1001">
        <a:schemeClr val="bg1"/>
      </p:bgRef>
    </p:bg>
    <p:spTree>
      <p:nvGrpSpPr>
        <p:cNvPr id="1" name=""/>
        <p:cNvGrpSpPr/>
        <p:nvPr/>
      </p:nvGrpSpPr>
      <p:grpSpPr>
        <a:xfrm>
          <a:off x="0" y="0"/>
          <a:ext cx="0" cy="0"/>
          <a:chOff x="0" y="0"/>
          <a:chExt cx="0" cy="0"/>
        </a:xfrm>
      </p:grpSpPr>
      <p:pic>
        <p:nvPicPr>
          <p:cNvPr id="2" name="图片 1"/>
          <p:cNvPicPr>
            <a:picLocks noChangeAspect="true"/>
          </p:cNvPicPr>
          <p:nvPr userDrawn="true"/>
        </p:nvPicPr>
        <p:blipFill rotWithShape="true">
          <a:blip r:embed="rId2" cstate="screen"/>
          <a:srcRect l="5262" r="5866"/>
          <a:stretch>
            <a:fillRect/>
          </a:stretch>
        </p:blipFill>
        <p:spPr>
          <a:xfrm>
            <a:off x="0" y="0"/>
            <a:ext cx="12192000" cy="685800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showMasterSp="0">
  <p:cSld name="3_标题幻灯片">
    <p:bg>
      <p:bgRef idx="1001">
        <a:schemeClr val="bg1"/>
      </p:bgRef>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4" name="矩形 3"/>
          <p:cNvSpPr/>
          <p:nvPr userDrawn="true"/>
        </p:nvSpPr>
        <p:spPr>
          <a:xfrm>
            <a:off x="8325228" y="6545425"/>
            <a:ext cx="775136" cy="246221"/>
          </a:xfrm>
          <a:prstGeom prst="rect">
            <a:avLst/>
          </a:prstGeom>
        </p:spPr>
        <p:txBody>
          <a:bodyPr wrap="square">
            <a:spAutoFit/>
          </a:bodyPr>
          <a:lstStyle/>
          <a:p>
            <a:pPr defTabSz="914400"/>
            <a:r>
              <a:rPr lang="en-US" altLang="zh-CN" sz="100" dirty="0">
                <a:solidFill>
                  <a:prstClr val="white"/>
                </a:solidFill>
                <a:ea typeface="宋体"/>
              </a:rPr>
              <a:t>PPT</a:t>
            </a:r>
            <a:r>
              <a:rPr lang="zh-CN" altLang="en-US" sz="100" dirty="0">
                <a:solidFill>
                  <a:prstClr val="white"/>
                </a:solidFill>
                <a:ea typeface="宋体"/>
              </a:rPr>
              <a:t>模板下载：</a:t>
            </a:r>
            <a:r>
              <a:rPr lang="en-US" altLang="zh-CN" sz="100" dirty="0">
                <a:solidFill>
                  <a:prstClr val="white"/>
                </a:solidFill>
                <a:ea typeface="宋体"/>
              </a:rPr>
              <a:t>www.1ppt.com/moban/     </a:t>
            </a:r>
            <a:r>
              <a:rPr lang="zh-CN" altLang="en-US" sz="100" dirty="0">
                <a:solidFill>
                  <a:prstClr val="white"/>
                </a:solidFill>
                <a:ea typeface="宋体"/>
              </a:rPr>
              <a:t>行业</a:t>
            </a:r>
            <a:r>
              <a:rPr lang="en-US" altLang="zh-CN" sz="100" dirty="0">
                <a:solidFill>
                  <a:prstClr val="white"/>
                </a:solidFill>
                <a:ea typeface="宋体"/>
              </a:rPr>
              <a:t>PPT</a:t>
            </a:r>
            <a:r>
              <a:rPr lang="zh-CN" altLang="en-US" sz="100" dirty="0">
                <a:solidFill>
                  <a:prstClr val="white"/>
                </a:solidFill>
                <a:ea typeface="宋体"/>
              </a:rPr>
              <a:t>模板：</a:t>
            </a:r>
            <a:r>
              <a:rPr lang="en-US" altLang="zh-CN" sz="100" dirty="0">
                <a:solidFill>
                  <a:prstClr val="white"/>
                </a:solidFill>
                <a:ea typeface="宋体"/>
              </a:rPr>
              <a:t>www.1ppt.com/hangye/ </a:t>
            </a:r>
            <a:endParaRPr lang="en-US" altLang="zh-CN" sz="100" dirty="0">
              <a:solidFill>
                <a:prstClr val="white"/>
              </a:solidFill>
              <a:ea typeface="宋体"/>
            </a:endParaRPr>
          </a:p>
          <a:p>
            <a:pPr defTabSz="914400"/>
            <a:r>
              <a:rPr lang="zh-CN" altLang="en-US" sz="100" dirty="0">
                <a:solidFill>
                  <a:prstClr val="white"/>
                </a:solidFill>
                <a:ea typeface="宋体"/>
              </a:rPr>
              <a:t>节日</a:t>
            </a:r>
            <a:r>
              <a:rPr lang="en-US" altLang="zh-CN" sz="100" dirty="0">
                <a:solidFill>
                  <a:prstClr val="white"/>
                </a:solidFill>
                <a:ea typeface="宋体"/>
              </a:rPr>
              <a:t>PPT</a:t>
            </a:r>
            <a:r>
              <a:rPr lang="zh-CN" altLang="en-US" sz="100" dirty="0">
                <a:solidFill>
                  <a:prstClr val="white"/>
                </a:solidFill>
                <a:ea typeface="宋体"/>
              </a:rPr>
              <a:t>模板：</a:t>
            </a:r>
            <a:r>
              <a:rPr lang="en-US" altLang="zh-CN" sz="100" dirty="0">
                <a:solidFill>
                  <a:prstClr val="white"/>
                </a:solidFill>
                <a:ea typeface="宋体"/>
              </a:rPr>
              <a:t>www.1ppt.com/jieri/           PPT</a:t>
            </a:r>
            <a:r>
              <a:rPr lang="zh-CN" altLang="en-US" sz="100" dirty="0">
                <a:solidFill>
                  <a:prstClr val="white"/>
                </a:solidFill>
                <a:ea typeface="宋体"/>
              </a:rPr>
              <a:t>素材下载：</a:t>
            </a:r>
            <a:r>
              <a:rPr lang="en-US" altLang="zh-CN" sz="100" dirty="0">
                <a:solidFill>
                  <a:prstClr val="white"/>
                </a:solidFill>
                <a:ea typeface="宋体"/>
              </a:rPr>
              <a:t>www.1ppt.com/sucai/</a:t>
            </a:r>
            <a:endParaRPr lang="en-US" altLang="zh-CN" sz="100" dirty="0">
              <a:solidFill>
                <a:prstClr val="white"/>
              </a:solidFill>
              <a:ea typeface="宋体"/>
            </a:endParaRPr>
          </a:p>
          <a:p>
            <a:pPr defTabSz="914400"/>
            <a:r>
              <a:rPr lang="en-US" altLang="zh-CN" sz="100" dirty="0">
                <a:solidFill>
                  <a:prstClr val="white"/>
                </a:solidFill>
                <a:ea typeface="宋体"/>
              </a:rPr>
              <a:t>PPT</a:t>
            </a:r>
            <a:r>
              <a:rPr lang="zh-CN" altLang="en-US" sz="100" dirty="0">
                <a:solidFill>
                  <a:prstClr val="white"/>
                </a:solidFill>
                <a:ea typeface="宋体"/>
              </a:rPr>
              <a:t>背景图片：</a:t>
            </a:r>
            <a:r>
              <a:rPr lang="en-US" altLang="zh-CN" sz="100" dirty="0">
                <a:solidFill>
                  <a:prstClr val="white"/>
                </a:solidFill>
                <a:ea typeface="宋体"/>
              </a:rPr>
              <a:t>www.1ppt.com/beijing/      PPT</a:t>
            </a:r>
            <a:r>
              <a:rPr lang="zh-CN" altLang="en-US" sz="100" dirty="0">
                <a:solidFill>
                  <a:prstClr val="white"/>
                </a:solidFill>
                <a:ea typeface="宋体"/>
              </a:rPr>
              <a:t>图表下载：</a:t>
            </a:r>
            <a:r>
              <a:rPr lang="en-US" altLang="zh-CN" sz="100" dirty="0">
                <a:solidFill>
                  <a:prstClr val="white"/>
                </a:solidFill>
                <a:ea typeface="宋体"/>
              </a:rPr>
              <a:t>www.1ppt.com/tubiao/      </a:t>
            </a:r>
            <a:endParaRPr lang="en-US" altLang="zh-CN" sz="100" dirty="0">
              <a:solidFill>
                <a:prstClr val="white"/>
              </a:solidFill>
              <a:ea typeface="宋体"/>
            </a:endParaRPr>
          </a:p>
          <a:p>
            <a:pPr defTabSz="914400"/>
            <a:r>
              <a:rPr lang="zh-CN" altLang="en-US" sz="100" dirty="0">
                <a:solidFill>
                  <a:prstClr val="white"/>
                </a:solidFill>
                <a:ea typeface="宋体"/>
              </a:rPr>
              <a:t>优秀</a:t>
            </a:r>
            <a:r>
              <a:rPr lang="en-US" altLang="zh-CN" sz="100" dirty="0">
                <a:solidFill>
                  <a:prstClr val="white"/>
                </a:solidFill>
                <a:ea typeface="宋体"/>
              </a:rPr>
              <a:t>PPT</a:t>
            </a:r>
            <a:r>
              <a:rPr lang="zh-CN" altLang="en-US" sz="100" dirty="0">
                <a:solidFill>
                  <a:prstClr val="white"/>
                </a:solidFill>
                <a:ea typeface="宋体"/>
              </a:rPr>
              <a:t>下载：</a:t>
            </a:r>
            <a:r>
              <a:rPr lang="en-US" altLang="zh-CN" sz="100" dirty="0">
                <a:solidFill>
                  <a:prstClr val="white"/>
                </a:solidFill>
                <a:ea typeface="宋体"/>
              </a:rPr>
              <a:t>www.1ppt.com/xiazai/        PPT</a:t>
            </a:r>
            <a:r>
              <a:rPr lang="zh-CN" altLang="en-US" sz="100" dirty="0">
                <a:solidFill>
                  <a:prstClr val="white"/>
                </a:solidFill>
                <a:ea typeface="宋体"/>
              </a:rPr>
              <a:t>教程： </a:t>
            </a:r>
            <a:r>
              <a:rPr lang="en-US" altLang="zh-CN" sz="100" dirty="0">
                <a:solidFill>
                  <a:prstClr val="white"/>
                </a:solidFill>
                <a:ea typeface="宋体"/>
              </a:rPr>
              <a:t>www.1ppt.com/powerpoint/      </a:t>
            </a:r>
            <a:endParaRPr lang="en-US" altLang="zh-CN" sz="100" dirty="0">
              <a:solidFill>
                <a:prstClr val="white"/>
              </a:solidFill>
              <a:ea typeface="宋体"/>
            </a:endParaRPr>
          </a:p>
          <a:p>
            <a:pPr defTabSz="914400"/>
            <a:r>
              <a:rPr lang="en-US" altLang="zh-CN" sz="100" dirty="0">
                <a:solidFill>
                  <a:prstClr val="white"/>
                </a:solidFill>
                <a:ea typeface="宋体"/>
              </a:rPr>
              <a:t>Word</a:t>
            </a:r>
            <a:r>
              <a:rPr lang="zh-CN" altLang="en-US" sz="100" dirty="0">
                <a:solidFill>
                  <a:prstClr val="white"/>
                </a:solidFill>
                <a:ea typeface="宋体"/>
              </a:rPr>
              <a:t>教程： </a:t>
            </a:r>
            <a:r>
              <a:rPr lang="en-US" altLang="zh-CN" sz="100" dirty="0">
                <a:solidFill>
                  <a:prstClr val="white"/>
                </a:solidFill>
                <a:ea typeface="宋体"/>
              </a:rPr>
              <a:t>www.1ppt.com/word/              Excel</a:t>
            </a:r>
            <a:r>
              <a:rPr lang="zh-CN" altLang="en-US" sz="100" dirty="0">
                <a:solidFill>
                  <a:prstClr val="white"/>
                </a:solidFill>
                <a:ea typeface="宋体"/>
              </a:rPr>
              <a:t>教程：</a:t>
            </a:r>
            <a:r>
              <a:rPr lang="en-US" altLang="zh-CN" sz="100" dirty="0">
                <a:solidFill>
                  <a:prstClr val="white"/>
                </a:solidFill>
                <a:ea typeface="宋体"/>
              </a:rPr>
              <a:t>www.1ppt.com/excel/  </a:t>
            </a:r>
            <a:endParaRPr lang="en-US" altLang="zh-CN" sz="100" dirty="0">
              <a:solidFill>
                <a:prstClr val="white"/>
              </a:solidFill>
              <a:ea typeface="宋体"/>
            </a:endParaRPr>
          </a:p>
          <a:p>
            <a:pPr defTabSz="914400"/>
            <a:r>
              <a:rPr lang="zh-CN" altLang="en-US" sz="100" dirty="0">
                <a:solidFill>
                  <a:prstClr val="white"/>
                </a:solidFill>
                <a:ea typeface="宋体"/>
              </a:rPr>
              <a:t>资料下载：</a:t>
            </a:r>
            <a:r>
              <a:rPr lang="en-US" altLang="zh-CN" sz="100" dirty="0">
                <a:solidFill>
                  <a:prstClr val="white"/>
                </a:solidFill>
                <a:ea typeface="宋体"/>
              </a:rPr>
              <a:t>www.1ppt.com/ziliao/                PPT</a:t>
            </a:r>
            <a:r>
              <a:rPr lang="zh-CN" altLang="en-US" sz="100" dirty="0">
                <a:solidFill>
                  <a:prstClr val="white"/>
                </a:solidFill>
                <a:ea typeface="宋体"/>
              </a:rPr>
              <a:t>课件下载：</a:t>
            </a:r>
            <a:r>
              <a:rPr lang="en-US" altLang="zh-CN" sz="100" dirty="0">
                <a:solidFill>
                  <a:prstClr val="white"/>
                </a:solidFill>
                <a:ea typeface="宋体"/>
              </a:rPr>
              <a:t>www.1ppt.com/kejian/ </a:t>
            </a:r>
            <a:endParaRPr lang="en-US" altLang="zh-CN" sz="100" dirty="0">
              <a:solidFill>
                <a:prstClr val="white"/>
              </a:solidFill>
              <a:ea typeface="宋体"/>
            </a:endParaRPr>
          </a:p>
          <a:p>
            <a:pPr defTabSz="914400"/>
            <a:r>
              <a:rPr lang="zh-CN" altLang="en-US" sz="100" dirty="0">
                <a:solidFill>
                  <a:prstClr val="white"/>
                </a:solidFill>
                <a:ea typeface="宋体"/>
              </a:rPr>
              <a:t>范文下载：</a:t>
            </a:r>
            <a:r>
              <a:rPr lang="en-US" altLang="zh-CN" sz="100" dirty="0">
                <a:solidFill>
                  <a:prstClr val="white"/>
                </a:solidFill>
                <a:ea typeface="宋体"/>
              </a:rPr>
              <a:t>www.1ppt.com/fanwen/             </a:t>
            </a:r>
            <a:r>
              <a:rPr lang="zh-CN" altLang="en-US" sz="100" dirty="0">
                <a:solidFill>
                  <a:prstClr val="white"/>
                </a:solidFill>
                <a:ea typeface="宋体"/>
              </a:rPr>
              <a:t>试卷下载：</a:t>
            </a:r>
            <a:r>
              <a:rPr lang="en-US" altLang="zh-CN" sz="100" dirty="0">
                <a:solidFill>
                  <a:prstClr val="white"/>
                </a:solidFill>
                <a:ea typeface="宋体"/>
              </a:rPr>
              <a:t>www.1ppt.com/shiti/  </a:t>
            </a:r>
            <a:endParaRPr lang="en-US" altLang="zh-CN" sz="100" dirty="0">
              <a:solidFill>
                <a:prstClr val="white"/>
              </a:solidFill>
              <a:ea typeface="宋体"/>
            </a:endParaRPr>
          </a:p>
          <a:p>
            <a:pPr defTabSz="914400"/>
            <a:r>
              <a:rPr lang="zh-CN" altLang="en-US" sz="100" dirty="0">
                <a:solidFill>
                  <a:prstClr val="white"/>
                </a:solidFill>
                <a:ea typeface="宋体"/>
              </a:rPr>
              <a:t>教案下载：</a:t>
            </a:r>
            <a:r>
              <a:rPr lang="en-US" altLang="zh-CN" sz="100" dirty="0">
                <a:solidFill>
                  <a:prstClr val="white"/>
                </a:solidFill>
                <a:ea typeface="宋体"/>
              </a:rPr>
              <a:t>www.1ppt.com/jiaoan/  </a:t>
            </a:r>
            <a:r>
              <a:rPr lang="en-US" altLang="zh-CN" sz="100" dirty="0" smtClean="0">
                <a:solidFill>
                  <a:prstClr val="white"/>
                </a:solidFill>
                <a:ea typeface="宋体"/>
              </a:rPr>
              <a:t>      </a:t>
            </a:r>
            <a:endParaRPr lang="en-US" altLang="zh-CN" sz="100" dirty="0">
              <a:solidFill>
                <a:prstClr val="white"/>
              </a:solidFill>
              <a:ea typeface="宋体"/>
            </a:endParaRPr>
          </a:p>
          <a:p>
            <a:pPr defTabSz="914400"/>
            <a:r>
              <a:rPr lang="zh-CN" altLang="en-US" sz="100" dirty="0" smtClean="0">
                <a:solidFill>
                  <a:prstClr val="white"/>
                </a:solidFill>
                <a:ea typeface="宋体"/>
              </a:rPr>
              <a:t>字体下载：</a:t>
            </a:r>
            <a:r>
              <a:rPr lang="en-US" altLang="zh-CN" sz="100" dirty="0" smtClean="0">
                <a:solidFill>
                  <a:prstClr val="white"/>
                </a:solidFill>
                <a:ea typeface="宋体"/>
              </a:rPr>
              <a:t>www.1ppt.com/ziti/</a:t>
            </a:r>
            <a:endParaRPr lang="en-US" altLang="zh-CN" sz="100" dirty="0">
              <a:solidFill>
                <a:prstClr val="white"/>
              </a:solidFill>
              <a:ea typeface="宋体"/>
            </a:endParaRPr>
          </a:p>
          <a:p>
            <a:pPr defTabSz="914400"/>
            <a:r>
              <a:rPr lang="en-US" altLang="zh-CN" sz="100" dirty="0">
                <a:solidFill>
                  <a:prstClr val="white"/>
                </a:solidFill>
                <a:ea typeface="宋体"/>
              </a:rPr>
              <a:t> </a:t>
            </a:r>
            <a:endParaRPr lang="zh-CN" altLang="en-US" sz="100" dirty="0">
              <a:solidFill>
                <a:prstClr val="white"/>
              </a:solidFill>
              <a:ea typeface="宋体"/>
            </a:endParaRPr>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showMasterSp="0">
  <p:cSld name="4_标题幻灯片">
    <p:bg>
      <p:bgRef idx="1001">
        <a:schemeClr val="bg1"/>
      </p:bgRef>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2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true"/>
          <p:nvPr/>
        </p:nvSpPr>
        <p:spPr>
          <a:xfrm>
            <a:off x="1242695" y="1818640"/>
            <a:ext cx="9362440" cy="1322070"/>
          </a:xfrm>
          <a:prstGeom prst="rect">
            <a:avLst/>
          </a:prstGeom>
          <a:noFill/>
        </p:spPr>
        <p:txBody>
          <a:bodyPr wrap="none" rtlCol="0">
            <a:spAutoFit/>
          </a:bodyPr>
          <a:p>
            <a:r>
              <a:rPr kumimoji="1" lang="zh-CN" altLang="en-US" sz="8000" b="1" dirty="0" smtClean="0">
                <a:solidFill>
                  <a:srgbClr val="C00000"/>
                </a:solidFill>
                <a:latin typeface="Microsoft YaHei" charset="-122"/>
                <a:ea typeface="Microsoft YaHei" charset="-122"/>
                <a:cs typeface="Microsoft YaHei" charset="-122"/>
              </a:rPr>
              <a:t>“四个全面”总体布局</a:t>
            </a:r>
            <a:endParaRPr kumimoji="1" lang="zh-CN" altLang="en-US" sz="8000" b="1" dirty="0" smtClean="0">
              <a:solidFill>
                <a:srgbClr val="C00000"/>
              </a:solidFill>
              <a:latin typeface="Microsoft YaHei" charset="-122"/>
              <a:ea typeface="Microsoft YaHei" charset="-122"/>
              <a:cs typeface="Microsoft YaHei"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true"/>
          <p:nvPr/>
        </p:nvSpPr>
        <p:spPr>
          <a:xfrm>
            <a:off x="584617" y="2000547"/>
            <a:ext cx="2899799" cy="1323439"/>
          </a:xfrm>
          <a:prstGeom prst="rect">
            <a:avLst/>
          </a:prstGeom>
          <a:noFill/>
        </p:spPr>
        <p:txBody>
          <a:bodyPr vert="horz" wrap="square" rtlCol="0">
            <a:spAutoFit/>
          </a:bodyPr>
          <a:lstStyle/>
          <a:p>
            <a:pPr algn="dist"/>
            <a:r>
              <a:rPr kumimoji="1" lang="zh-CN" altLang="en-US" sz="8000" b="1" dirty="0" smtClean="0">
                <a:solidFill>
                  <a:srgbClr val="C00000"/>
                </a:solidFill>
                <a:latin typeface="Microsoft YaHei" charset="-122"/>
                <a:ea typeface="Microsoft YaHei" charset="-122"/>
                <a:cs typeface="Microsoft YaHei" charset="-122"/>
              </a:rPr>
              <a:t>前言</a:t>
            </a:r>
            <a:endParaRPr kumimoji="1" lang="zh-CN" altLang="en-US" sz="8000" b="1" dirty="0">
              <a:solidFill>
                <a:srgbClr val="C00000"/>
              </a:solidFill>
              <a:latin typeface="Microsoft YaHei" charset="-122"/>
              <a:ea typeface="Microsoft YaHei" charset="-122"/>
              <a:cs typeface="Microsoft YaHei" charset="-122"/>
            </a:endParaRPr>
          </a:p>
        </p:txBody>
      </p:sp>
      <p:sp>
        <p:nvSpPr>
          <p:cNvPr id="3" name="文本框 2"/>
          <p:cNvSpPr txBox="true"/>
          <p:nvPr/>
        </p:nvSpPr>
        <p:spPr>
          <a:xfrm>
            <a:off x="4374963" y="781149"/>
            <a:ext cx="7809876" cy="3969385"/>
          </a:xfrm>
          <a:prstGeom prst="rect">
            <a:avLst/>
          </a:prstGeom>
          <a:noFill/>
        </p:spPr>
        <p:txBody>
          <a:bodyPr vert="horz" wrap="square" rtlCol="0">
            <a:spAutoFit/>
          </a:bodyPr>
          <a:lstStyle/>
          <a:p>
            <a:pPr>
              <a:lnSpc>
                <a:spcPct val="200000"/>
              </a:lnSpc>
            </a:pPr>
            <a:r>
              <a:rPr lang="en-US" sz="1400" spc="-1">
                <a:latin typeface="Arial"/>
                <a:sym typeface="+mn-ea"/>
              </a:rPr>
              <a:t>2014</a:t>
            </a:r>
            <a:r>
              <a:rPr lang="zh-CN" sz="1400" spc="-1">
                <a:latin typeface="Arial"/>
                <a:sym typeface="+mn-ea"/>
              </a:rPr>
              <a:t>年</a:t>
            </a:r>
            <a:r>
              <a:rPr lang="en-US" sz="1400" spc="-1">
                <a:latin typeface="Arial"/>
                <a:sym typeface="+mn-ea"/>
              </a:rPr>
              <a:t>11</a:t>
            </a:r>
            <a:r>
              <a:rPr lang="zh-CN" sz="1400" spc="-1">
                <a:latin typeface="Arial"/>
                <a:sym typeface="+mn-ea"/>
              </a:rPr>
              <a:t>月，习近平到福建考察调研时提出“协调进程”的“三个全面”：</a:t>
            </a:r>
            <a:endParaRPr lang="en-US" sz="1400" b="0" strike="noStrike" spc="-1">
              <a:latin typeface="Arial"/>
            </a:endParaRPr>
          </a:p>
          <a:p>
            <a:pPr>
              <a:lnSpc>
                <a:spcPct val="200000"/>
              </a:lnSpc>
            </a:pPr>
            <a:r>
              <a:rPr lang="zh-CN" sz="1400" spc="-1">
                <a:latin typeface="Arial"/>
                <a:sym typeface="+mn-ea"/>
              </a:rPr>
              <a:t>全面建成小康社会、全面深化改革、全面依法治国，</a:t>
            </a:r>
            <a:endParaRPr lang="en-US" sz="1400" b="0" strike="noStrike" spc="-1">
              <a:latin typeface="Arial"/>
            </a:endParaRPr>
          </a:p>
          <a:p>
            <a:pPr>
              <a:lnSpc>
                <a:spcPct val="200000"/>
              </a:lnSpc>
            </a:pPr>
            <a:r>
              <a:rPr lang="en-US" sz="1400" spc="-1">
                <a:latin typeface="Arial"/>
                <a:sym typeface="+mn-ea"/>
              </a:rPr>
              <a:t>2014</a:t>
            </a:r>
            <a:r>
              <a:rPr lang="zh-CN" sz="1400" spc="-1">
                <a:latin typeface="Arial"/>
                <a:sym typeface="+mn-ea"/>
              </a:rPr>
              <a:t>年</a:t>
            </a:r>
            <a:r>
              <a:rPr lang="en-US" sz="1400" spc="-1">
                <a:latin typeface="Arial"/>
                <a:sym typeface="+mn-ea"/>
              </a:rPr>
              <a:t>12</a:t>
            </a:r>
            <a:r>
              <a:rPr lang="zh-CN" sz="1400" spc="-1">
                <a:latin typeface="Arial"/>
                <a:sym typeface="+mn-ea"/>
              </a:rPr>
              <a:t>月在江苏调研时则将“三个全面”上升到了“四个全面”，</a:t>
            </a:r>
            <a:endParaRPr lang="en-US" sz="1400" b="0" strike="noStrike" spc="-1">
              <a:latin typeface="Arial"/>
            </a:endParaRPr>
          </a:p>
          <a:p>
            <a:pPr>
              <a:lnSpc>
                <a:spcPct val="200000"/>
              </a:lnSpc>
            </a:pPr>
            <a:r>
              <a:rPr lang="zh-CN" sz="1400" spc="-1">
                <a:latin typeface="Arial"/>
                <a:sym typeface="+mn-ea"/>
              </a:rPr>
              <a:t>要“协调推进全面建成小康社会、全面深化改革、全面推进依法治国、</a:t>
            </a:r>
            <a:endParaRPr lang="en-US" sz="1400" b="0" strike="noStrike" spc="-1">
              <a:latin typeface="Arial"/>
            </a:endParaRPr>
          </a:p>
          <a:p>
            <a:pPr>
              <a:lnSpc>
                <a:spcPct val="200000"/>
              </a:lnSpc>
            </a:pPr>
            <a:r>
              <a:rPr lang="zh-CN" sz="1400" spc="-1">
                <a:latin typeface="Arial"/>
                <a:sym typeface="+mn-ea"/>
              </a:rPr>
              <a:t>全面从严治党，推动改革开放和社会主义现代化建设迈上新台阶”，新增了“全面从严治党”。</a:t>
            </a:r>
            <a:endParaRPr lang="en-US" sz="1400" b="0" strike="noStrike" spc="-1">
              <a:latin typeface="Arial"/>
            </a:endParaRPr>
          </a:p>
          <a:p>
            <a:pPr>
              <a:lnSpc>
                <a:spcPct val="200000"/>
              </a:lnSpc>
            </a:pPr>
            <a:r>
              <a:rPr lang="en-US" sz="1400" spc="-1">
                <a:latin typeface="Arial"/>
                <a:sym typeface="+mn-ea"/>
              </a:rPr>
              <a:t>“</a:t>
            </a:r>
            <a:r>
              <a:rPr lang="zh-CN" sz="1400" spc="-1">
                <a:latin typeface="Arial"/>
                <a:sym typeface="+mn-ea"/>
              </a:rPr>
              <a:t>四个全面”的提出，更完整地展现出新一届中央领导集体治国理政的总体框架，</a:t>
            </a:r>
            <a:endParaRPr lang="en-US" sz="1400" b="0" strike="noStrike" spc="-1">
              <a:latin typeface="Arial"/>
            </a:endParaRPr>
          </a:p>
          <a:p>
            <a:pPr>
              <a:lnSpc>
                <a:spcPct val="200000"/>
              </a:lnSpc>
            </a:pPr>
            <a:r>
              <a:rPr lang="zh-CN" sz="1400" spc="-1">
                <a:latin typeface="Arial"/>
                <a:sym typeface="+mn-ea"/>
              </a:rPr>
              <a:t>使当前和今后</a:t>
            </a:r>
            <a:endParaRPr lang="en-US" sz="1400" b="0" strike="noStrike" spc="-1">
              <a:latin typeface="Arial"/>
            </a:endParaRPr>
          </a:p>
          <a:p>
            <a:pPr>
              <a:lnSpc>
                <a:spcPct val="200000"/>
              </a:lnSpc>
            </a:pPr>
            <a:r>
              <a:rPr lang="zh-CN" sz="1400" spc="-1">
                <a:latin typeface="Arial"/>
                <a:sym typeface="+mn-ea"/>
              </a:rPr>
              <a:t>一个时期，党和国家各项工作关键环节、重点领域、主攻方向更加清晰、内在逻辑更加严密，</a:t>
            </a:r>
            <a:endParaRPr lang="en-US" sz="1400" b="0" strike="noStrike" spc="-1">
              <a:latin typeface="Arial"/>
            </a:endParaRPr>
          </a:p>
          <a:p>
            <a:pPr>
              <a:lnSpc>
                <a:spcPct val="200000"/>
              </a:lnSpc>
            </a:pPr>
            <a:r>
              <a:rPr lang="zh-CN" sz="1400" spc="-1">
                <a:latin typeface="Arial"/>
                <a:sym typeface="+mn-ea"/>
              </a:rPr>
              <a:t>这对改革开放和社会主义现代化建设迈上新台阶提供了强力保障</a:t>
            </a:r>
            <a:endParaRPr kumimoji="1" lang="zh-CN" altLang="en-US" sz="1400" dirty="0">
              <a:solidFill>
                <a:srgbClr val="C00000"/>
              </a:solidFill>
              <a:latin typeface="Microsoft YaHei" charset="-122"/>
              <a:ea typeface="Microsoft YaHei" charset="-122"/>
              <a:cs typeface="Microsoft YaHei"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28342" y="753935"/>
            <a:ext cx="7339303" cy="512327"/>
          </a:xfrm>
          <a:prstGeom prst="rect">
            <a:avLst/>
          </a:prstGeom>
          <a:solidFill>
            <a:schemeClr val="bg1"/>
          </a:solidFill>
          <a:ln w="12700">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defTabSz="1381760"/>
            <a:endParaRPr lang="zh-CN" altLang="en-US" sz="1600">
              <a:solidFill>
                <a:schemeClr val="tx1">
                  <a:lumMod val="65000"/>
                  <a:lumOff val="35000"/>
                </a:schemeClr>
              </a:solidFill>
              <a:latin typeface="DIN Mittelschrift Std" pitchFamily="50" charset="0"/>
              <a:ea typeface="微软雅黑" panose="020B0503020204020204" pitchFamily="34" charset="-122"/>
            </a:endParaRPr>
          </a:p>
        </p:txBody>
      </p:sp>
      <p:sp>
        <p:nvSpPr>
          <p:cNvPr id="3" name="等腰三角形 219"/>
          <p:cNvSpPr/>
          <p:nvPr/>
        </p:nvSpPr>
        <p:spPr>
          <a:xfrm rot="5400000" flipV="true">
            <a:off x="4106230" y="805855"/>
            <a:ext cx="667742" cy="563908"/>
          </a:xfrm>
          <a:custGeom>
            <a:avLst/>
            <a:gdLst/>
            <a:ahLst/>
            <a:cxnLst/>
            <a:rect l="l" t="t" r="r" b="b"/>
            <a:pathLst>
              <a:path w="563124" h="628267">
                <a:moveTo>
                  <a:pt x="0" y="3978"/>
                </a:moveTo>
                <a:lnTo>
                  <a:pt x="0" y="628267"/>
                </a:lnTo>
                <a:lnTo>
                  <a:pt x="303862" y="628267"/>
                </a:lnTo>
                <a:lnTo>
                  <a:pt x="447878" y="628267"/>
                </a:lnTo>
                <a:lnTo>
                  <a:pt x="559744" y="628267"/>
                </a:lnTo>
                <a:lnTo>
                  <a:pt x="476615" y="351159"/>
                </a:lnTo>
                <a:lnTo>
                  <a:pt x="563124" y="0"/>
                </a:lnTo>
                <a:lnTo>
                  <a:pt x="352994" y="0"/>
                </a:lnTo>
                <a:lnTo>
                  <a:pt x="353974" y="3978"/>
                </a:lnTo>
                <a:close/>
              </a:path>
            </a:pathLst>
          </a:custGeom>
          <a:solidFill>
            <a:srgbClr val="C00000"/>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bg1"/>
              </a:solidFill>
              <a:latin typeface="微软雅黑" panose="020B0503020204020204" pitchFamily="34" charset="-122"/>
              <a:ea typeface="微软雅黑" panose="020B0503020204020204" pitchFamily="34" charset="-122"/>
            </a:endParaRPr>
          </a:p>
        </p:txBody>
      </p:sp>
      <p:sp>
        <p:nvSpPr>
          <p:cNvPr id="4" name="标题 4"/>
          <p:cNvSpPr txBox="true"/>
          <p:nvPr/>
        </p:nvSpPr>
        <p:spPr>
          <a:xfrm>
            <a:off x="4012759" y="831645"/>
            <a:ext cx="663209" cy="51232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2000" dirty="0">
                <a:solidFill>
                  <a:schemeClr val="bg1"/>
                </a:solidFill>
                <a:latin typeface="Impact" pitchFamily="34" charset="0"/>
                <a:ea typeface="微软雅黑" panose="020B0503020204020204" pitchFamily="34" charset="-122"/>
              </a:rPr>
              <a:t>   01</a:t>
            </a:r>
            <a:endParaRPr lang="zh-CN" altLang="en-US" sz="1100" dirty="0">
              <a:solidFill>
                <a:schemeClr val="bg1"/>
              </a:solidFill>
              <a:latin typeface="Impact" pitchFamily="34" charset="0"/>
              <a:ea typeface="微软雅黑" panose="020B0503020204020204" pitchFamily="34" charset="-122"/>
            </a:endParaRPr>
          </a:p>
          <a:p>
            <a:endParaRPr lang="en-US" altLang="zh-CN" sz="1200" b="1" dirty="0">
              <a:solidFill>
                <a:schemeClr val="bg1"/>
              </a:solidFill>
              <a:latin typeface="Impact" pitchFamily="34" charset="0"/>
              <a:ea typeface="微软雅黑" panose="020B0503020204020204" pitchFamily="34" charset="-122"/>
            </a:endParaRPr>
          </a:p>
        </p:txBody>
      </p:sp>
      <p:sp>
        <p:nvSpPr>
          <p:cNvPr id="5" name="矩形 4"/>
          <p:cNvSpPr/>
          <p:nvPr/>
        </p:nvSpPr>
        <p:spPr>
          <a:xfrm>
            <a:off x="4821356" y="779265"/>
            <a:ext cx="6301091" cy="460375"/>
          </a:xfrm>
          <a:prstGeom prst="rect">
            <a:avLst/>
          </a:prstGeom>
        </p:spPr>
        <p:txBody>
          <a:bodyPr wrap="square">
            <a:spAutoFit/>
          </a:bodyPr>
          <a:lstStyle/>
          <a:p>
            <a:r>
              <a:rPr kumimoji="1" lang="zh-CN" altLang="en-US" sz="2400" b="1" dirty="0">
                <a:solidFill>
                  <a:srgbClr val="C00000"/>
                </a:solidFill>
                <a:latin typeface="Microsoft YaHei" charset="-122"/>
                <a:ea typeface="Microsoft YaHei" charset="-122"/>
                <a:cs typeface="Microsoft YaHei" charset="-122"/>
              </a:rPr>
              <a:t>全面建设社会主义现代化</a:t>
            </a:r>
            <a:endParaRPr kumimoji="1" lang="zh-CN" altLang="en-US" sz="2400" b="1" dirty="0">
              <a:solidFill>
                <a:srgbClr val="C00000"/>
              </a:solidFill>
              <a:latin typeface="Microsoft YaHei" charset="-122"/>
              <a:ea typeface="Microsoft YaHei" charset="-122"/>
              <a:cs typeface="Microsoft YaHei" charset="-122"/>
            </a:endParaRPr>
          </a:p>
        </p:txBody>
      </p:sp>
      <p:grpSp>
        <p:nvGrpSpPr>
          <p:cNvPr id="6" name="组合 35"/>
          <p:cNvGrpSpPr/>
          <p:nvPr/>
        </p:nvGrpSpPr>
        <p:grpSpPr>
          <a:xfrm>
            <a:off x="3847196" y="1677762"/>
            <a:ext cx="7339303" cy="667745"/>
            <a:chOff x="3779912" y="971744"/>
            <a:chExt cx="5322060" cy="484037"/>
          </a:xfrm>
        </p:grpSpPr>
        <p:sp>
          <p:nvSpPr>
            <p:cNvPr id="7" name="矩形 6"/>
            <p:cNvSpPr/>
            <p:nvPr/>
          </p:nvSpPr>
          <p:spPr>
            <a:xfrm>
              <a:off x="3779912" y="971744"/>
              <a:ext cx="5322060" cy="371377"/>
            </a:xfrm>
            <a:prstGeom prst="rect">
              <a:avLst/>
            </a:prstGeom>
            <a:solidFill>
              <a:schemeClr val="bg1"/>
            </a:solidFill>
            <a:ln w="12700">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defTabSz="1381760"/>
              <a:endParaRPr lang="zh-CN" altLang="en-US" sz="1600">
                <a:solidFill>
                  <a:schemeClr val="tx1">
                    <a:lumMod val="65000"/>
                    <a:lumOff val="35000"/>
                  </a:schemeClr>
                </a:solidFill>
                <a:latin typeface="DIN Mittelschrift Std" pitchFamily="50" charset="0"/>
                <a:ea typeface="微软雅黑" panose="020B0503020204020204" pitchFamily="34" charset="-122"/>
              </a:endParaRPr>
            </a:p>
          </p:txBody>
        </p:sp>
        <p:sp>
          <p:nvSpPr>
            <p:cNvPr id="8" name="等腰三角形 219"/>
            <p:cNvSpPr/>
            <p:nvPr/>
          </p:nvSpPr>
          <p:spPr>
            <a:xfrm rot="5400000" flipV="true">
              <a:off x="3981509" y="1009306"/>
              <a:ext cx="484035" cy="408915"/>
            </a:xfrm>
            <a:custGeom>
              <a:avLst/>
              <a:gdLst/>
              <a:ahLst/>
              <a:cxnLst/>
              <a:rect l="l" t="t" r="r" b="b"/>
              <a:pathLst>
                <a:path w="563124" h="628267">
                  <a:moveTo>
                    <a:pt x="0" y="3978"/>
                  </a:moveTo>
                  <a:lnTo>
                    <a:pt x="0" y="628267"/>
                  </a:lnTo>
                  <a:lnTo>
                    <a:pt x="303862" y="628267"/>
                  </a:lnTo>
                  <a:lnTo>
                    <a:pt x="447878" y="628267"/>
                  </a:lnTo>
                  <a:lnTo>
                    <a:pt x="559744" y="628267"/>
                  </a:lnTo>
                  <a:lnTo>
                    <a:pt x="476615" y="351159"/>
                  </a:lnTo>
                  <a:lnTo>
                    <a:pt x="563124" y="0"/>
                  </a:lnTo>
                  <a:lnTo>
                    <a:pt x="352994" y="0"/>
                  </a:lnTo>
                  <a:lnTo>
                    <a:pt x="353974" y="3978"/>
                  </a:lnTo>
                  <a:close/>
                </a:path>
              </a:pathLst>
            </a:custGeom>
            <a:solidFill>
              <a:srgbClr val="C00000"/>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bg1"/>
                </a:solidFill>
                <a:latin typeface="微软雅黑" panose="020B0503020204020204" pitchFamily="34" charset="-122"/>
                <a:ea typeface="微软雅黑" panose="020B0503020204020204" pitchFamily="34" charset="-122"/>
              </a:endParaRPr>
            </a:p>
          </p:txBody>
        </p:sp>
        <p:sp>
          <p:nvSpPr>
            <p:cNvPr id="9" name="标题 4"/>
            <p:cNvSpPr txBox="true"/>
            <p:nvPr/>
          </p:nvSpPr>
          <p:spPr>
            <a:xfrm>
              <a:off x="3913641" y="1028075"/>
              <a:ext cx="480923" cy="37137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1800" dirty="0">
                  <a:solidFill>
                    <a:schemeClr val="bg1"/>
                  </a:solidFill>
                  <a:latin typeface="Impact" pitchFamily="34" charset="0"/>
                  <a:ea typeface="微软雅黑" panose="020B0503020204020204" pitchFamily="34" charset="-122"/>
                </a:rPr>
                <a:t>   02</a:t>
              </a:r>
              <a:endParaRPr lang="zh-CN" altLang="en-US" sz="1050" dirty="0">
                <a:solidFill>
                  <a:schemeClr val="bg1"/>
                </a:solidFill>
                <a:latin typeface="Impact" pitchFamily="34" charset="0"/>
                <a:ea typeface="微软雅黑" panose="020B0503020204020204" pitchFamily="34" charset="-122"/>
              </a:endParaRPr>
            </a:p>
            <a:p>
              <a:endParaRPr lang="en-US" altLang="zh-CN" sz="1100" b="1" dirty="0">
                <a:solidFill>
                  <a:schemeClr val="bg1"/>
                </a:solidFill>
                <a:latin typeface="Impact" pitchFamily="34" charset="0"/>
                <a:ea typeface="微软雅黑" panose="020B0503020204020204" pitchFamily="34" charset="-122"/>
              </a:endParaRPr>
            </a:p>
          </p:txBody>
        </p:sp>
      </p:grpSp>
      <p:sp>
        <p:nvSpPr>
          <p:cNvPr id="10" name="矩形 9"/>
          <p:cNvSpPr/>
          <p:nvPr/>
        </p:nvSpPr>
        <p:spPr>
          <a:xfrm>
            <a:off x="4840210" y="1703092"/>
            <a:ext cx="6301091" cy="460375"/>
          </a:xfrm>
          <a:prstGeom prst="rect">
            <a:avLst/>
          </a:prstGeom>
        </p:spPr>
        <p:txBody>
          <a:bodyPr wrap="square">
            <a:spAutoFit/>
          </a:bodyPr>
          <a:lstStyle/>
          <a:p>
            <a:r>
              <a:rPr kumimoji="1" lang="zh-CN" altLang="en-US" sz="2400" b="1" dirty="0">
                <a:solidFill>
                  <a:srgbClr val="C00000"/>
                </a:solidFill>
                <a:latin typeface="Microsoft YaHei" charset="-122"/>
                <a:ea typeface="Microsoft YaHei" charset="-122"/>
                <a:cs typeface="Microsoft YaHei" charset="-122"/>
              </a:rPr>
              <a:t>全面深化改革</a:t>
            </a:r>
            <a:endParaRPr kumimoji="1" lang="zh-CN" altLang="en-US" sz="2400" b="1" dirty="0">
              <a:solidFill>
                <a:srgbClr val="C00000"/>
              </a:solidFill>
              <a:latin typeface="Microsoft YaHei" charset="-122"/>
              <a:ea typeface="Microsoft YaHei" charset="-122"/>
              <a:cs typeface="Microsoft YaHei" charset="-122"/>
            </a:endParaRPr>
          </a:p>
        </p:txBody>
      </p:sp>
      <p:grpSp>
        <p:nvGrpSpPr>
          <p:cNvPr id="11" name="组合 41"/>
          <p:cNvGrpSpPr/>
          <p:nvPr/>
        </p:nvGrpSpPr>
        <p:grpSpPr>
          <a:xfrm>
            <a:off x="3828341" y="2581515"/>
            <a:ext cx="7339303" cy="667745"/>
            <a:chOff x="3779912" y="971744"/>
            <a:chExt cx="5322060" cy="484037"/>
          </a:xfrm>
        </p:grpSpPr>
        <p:sp>
          <p:nvSpPr>
            <p:cNvPr id="12" name="矩形 11"/>
            <p:cNvSpPr/>
            <p:nvPr/>
          </p:nvSpPr>
          <p:spPr>
            <a:xfrm>
              <a:off x="3779912" y="971744"/>
              <a:ext cx="5322060" cy="371377"/>
            </a:xfrm>
            <a:prstGeom prst="rect">
              <a:avLst/>
            </a:prstGeom>
            <a:solidFill>
              <a:schemeClr val="bg1"/>
            </a:solidFill>
            <a:ln w="12700">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defTabSz="1381760"/>
              <a:endParaRPr lang="zh-CN" altLang="en-US" sz="1600">
                <a:solidFill>
                  <a:schemeClr val="tx1">
                    <a:lumMod val="65000"/>
                    <a:lumOff val="35000"/>
                  </a:schemeClr>
                </a:solidFill>
                <a:latin typeface="DIN Mittelschrift Std" pitchFamily="50" charset="0"/>
                <a:ea typeface="微软雅黑" panose="020B0503020204020204" pitchFamily="34" charset="-122"/>
              </a:endParaRPr>
            </a:p>
          </p:txBody>
        </p:sp>
        <p:sp>
          <p:nvSpPr>
            <p:cNvPr id="13" name="等腰三角形 219"/>
            <p:cNvSpPr/>
            <p:nvPr/>
          </p:nvSpPr>
          <p:spPr>
            <a:xfrm rot="5400000" flipV="true">
              <a:off x="3981509" y="1009306"/>
              <a:ext cx="484035" cy="408915"/>
            </a:xfrm>
            <a:custGeom>
              <a:avLst/>
              <a:gdLst/>
              <a:ahLst/>
              <a:cxnLst/>
              <a:rect l="l" t="t" r="r" b="b"/>
              <a:pathLst>
                <a:path w="563124" h="628267">
                  <a:moveTo>
                    <a:pt x="0" y="3978"/>
                  </a:moveTo>
                  <a:lnTo>
                    <a:pt x="0" y="628267"/>
                  </a:lnTo>
                  <a:lnTo>
                    <a:pt x="303862" y="628267"/>
                  </a:lnTo>
                  <a:lnTo>
                    <a:pt x="447878" y="628267"/>
                  </a:lnTo>
                  <a:lnTo>
                    <a:pt x="559744" y="628267"/>
                  </a:lnTo>
                  <a:lnTo>
                    <a:pt x="476615" y="351159"/>
                  </a:lnTo>
                  <a:lnTo>
                    <a:pt x="563124" y="0"/>
                  </a:lnTo>
                  <a:lnTo>
                    <a:pt x="352994" y="0"/>
                  </a:lnTo>
                  <a:lnTo>
                    <a:pt x="353974" y="3978"/>
                  </a:lnTo>
                  <a:close/>
                </a:path>
              </a:pathLst>
            </a:custGeom>
            <a:solidFill>
              <a:srgbClr val="C00000"/>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bg1"/>
                </a:solidFill>
                <a:latin typeface="微软雅黑" panose="020B0503020204020204" pitchFamily="34" charset="-122"/>
                <a:ea typeface="微软雅黑" panose="020B0503020204020204" pitchFamily="34" charset="-122"/>
              </a:endParaRPr>
            </a:p>
          </p:txBody>
        </p:sp>
        <p:sp>
          <p:nvSpPr>
            <p:cNvPr id="14" name="标题 4"/>
            <p:cNvSpPr txBox="true"/>
            <p:nvPr/>
          </p:nvSpPr>
          <p:spPr>
            <a:xfrm>
              <a:off x="3913641" y="1028075"/>
              <a:ext cx="480923" cy="37137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1800">
                  <a:solidFill>
                    <a:schemeClr val="bg1"/>
                  </a:solidFill>
                  <a:latin typeface="Impact" pitchFamily="34" charset="0"/>
                  <a:ea typeface="微软雅黑" panose="020B0503020204020204" pitchFamily="34" charset="-122"/>
                </a:rPr>
                <a:t>   03</a:t>
              </a:r>
              <a:endParaRPr lang="zh-CN" altLang="en-US" sz="1050" dirty="0">
                <a:solidFill>
                  <a:schemeClr val="bg1"/>
                </a:solidFill>
                <a:latin typeface="Impact" pitchFamily="34" charset="0"/>
                <a:ea typeface="微软雅黑" panose="020B0503020204020204" pitchFamily="34" charset="-122"/>
              </a:endParaRPr>
            </a:p>
            <a:p>
              <a:endParaRPr lang="en-US" altLang="zh-CN" sz="1100" b="1" dirty="0">
                <a:solidFill>
                  <a:schemeClr val="bg1"/>
                </a:solidFill>
                <a:latin typeface="Impact" pitchFamily="34" charset="0"/>
                <a:ea typeface="微软雅黑" panose="020B0503020204020204" pitchFamily="34" charset="-122"/>
              </a:endParaRPr>
            </a:p>
          </p:txBody>
        </p:sp>
      </p:grpSp>
      <p:sp>
        <p:nvSpPr>
          <p:cNvPr id="15" name="矩形 14"/>
          <p:cNvSpPr/>
          <p:nvPr/>
        </p:nvSpPr>
        <p:spPr>
          <a:xfrm>
            <a:off x="4821355" y="2606845"/>
            <a:ext cx="6301091" cy="460375"/>
          </a:xfrm>
          <a:prstGeom prst="rect">
            <a:avLst/>
          </a:prstGeom>
        </p:spPr>
        <p:txBody>
          <a:bodyPr wrap="square">
            <a:spAutoFit/>
          </a:bodyPr>
          <a:lstStyle/>
          <a:p>
            <a:r>
              <a:rPr kumimoji="1" lang="zh-CN" altLang="en-US" sz="2400" b="1" dirty="0">
                <a:solidFill>
                  <a:srgbClr val="C00000"/>
                </a:solidFill>
                <a:latin typeface="Microsoft YaHei" charset="-122"/>
                <a:ea typeface="Microsoft YaHei" charset="-122"/>
                <a:cs typeface="Microsoft YaHei" charset="-122"/>
              </a:rPr>
              <a:t>全面依法治国</a:t>
            </a:r>
            <a:endParaRPr kumimoji="1" lang="zh-CN" altLang="en-US" sz="2400" b="1" dirty="0">
              <a:solidFill>
                <a:srgbClr val="C00000"/>
              </a:solidFill>
              <a:latin typeface="Microsoft YaHei" charset="-122"/>
              <a:ea typeface="Microsoft YaHei" charset="-122"/>
              <a:cs typeface="Microsoft YaHei" charset="-122"/>
            </a:endParaRPr>
          </a:p>
        </p:txBody>
      </p:sp>
      <p:grpSp>
        <p:nvGrpSpPr>
          <p:cNvPr id="16" name="组合 47"/>
          <p:cNvGrpSpPr/>
          <p:nvPr/>
        </p:nvGrpSpPr>
        <p:grpSpPr>
          <a:xfrm>
            <a:off x="3828341" y="3475422"/>
            <a:ext cx="7339303" cy="667745"/>
            <a:chOff x="3779912" y="971744"/>
            <a:chExt cx="5322060" cy="484037"/>
          </a:xfrm>
        </p:grpSpPr>
        <p:sp>
          <p:nvSpPr>
            <p:cNvPr id="17" name="矩形 16"/>
            <p:cNvSpPr/>
            <p:nvPr/>
          </p:nvSpPr>
          <p:spPr>
            <a:xfrm>
              <a:off x="3779912" y="971744"/>
              <a:ext cx="5322060" cy="371377"/>
            </a:xfrm>
            <a:prstGeom prst="rect">
              <a:avLst/>
            </a:prstGeom>
            <a:solidFill>
              <a:schemeClr val="bg1"/>
            </a:solidFill>
            <a:ln w="12700">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defTabSz="1381760"/>
              <a:endParaRPr lang="zh-CN" altLang="en-US" sz="1600">
                <a:solidFill>
                  <a:schemeClr val="tx1">
                    <a:lumMod val="65000"/>
                    <a:lumOff val="35000"/>
                  </a:schemeClr>
                </a:solidFill>
                <a:latin typeface="DIN Mittelschrift Std" pitchFamily="50" charset="0"/>
                <a:ea typeface="微软雅黑" panose="020B0503020204020204" pitchFamily="34" charset="-122"/>
              </a:endParaRPr>
            </a:p>
          </p:txBody>
        </p:sp>
        <p:sp>
          <p:nvSpPr>
            <p:cNvPr id="18" name="等腰三角形 219"/>
            <p:cNvSpPr/>
            <p:nvPr/>
          </p:nvSpPr>
          <p:spPr>
            <a:xfrm rot="5400000" flipV="true">
              <a:off x="3981509" y="1009306"/>
              <a:ext cx="484035" cy="408915"/>
            </a:xfrm>
            <a:custGeom>
              <a:avLst/>
              <a:gdLst/>
              <a:ahLst/>
              <a:cxnLst/>
              <a:rect l="l" t="t" r="r" b="b"/>
              <a:pathLst>
                <a:path w="563124" h="628267">
                  <a:moveTo>
                    <a:pt x="0" y="3978"/>
                  </a:moveTo>
                  <a:lnTo>
                    <a:pt x="0" y="628267"/>
                  </a:lnTo>
                  <a:lnTo>
                    <a:pt x="303862" y="628267"/>
                  </a:lnTo>
                  <a:lnTo>
                    <a:pt x="447878" y="628267"/>
                  </a:lnTo>
                  <a:lnTo>
                    <a:pt x="559744" y="628267"/>
                  </a:lnTo>
                  <a:lnTo>
                    <a:pt x="476615" y="351159"/>
                  </a:lnTo>
                  <a:lnTo>
                    <a:pt x="563124" y="0"/>
                  </a:lnTo>
                  <a:lnTo>
                    <a:pt x="352994" y="0"/>
                  </a:lnTo>
                  <a:lnTo>
                    <a:pt x="353974" y="3978"/>
                  </a:lnTo>
                  <a:close/>
                </a:path>
              </a:pathLst>
            </a:custGeom>
            <a:solidFill>
              <a:srgbClr val="C00000"/>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bg1"/>
                </a:solidFill>
                <a:latin typeface="微软雅黑" panose="020B0503020204020204" pitchFamily="34" charset="-122"/>
                <a:ea typeface="微软雅黑" panose="020B0503020204020204" pitchFamily="34" charset="-122"/>
              </a:endParaRPr>
            </a:p>
          </p:txBody>
        </p:sp>
        <p:sp>
          <p:nvSpPr>
            <p:cNvPr id="19" name="标题 4"/>
            <p:cNvSpPr txBox="true"/>
            <p:nvPr/>
          </p:nvSpPr>
          <p:spPr>
            <a:xfrm>
              <a:off x="3913641" y="1028075"/>
              <a:ext cx="480923" cy="37137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1800">
                  <a:solidFill>
                    <a:schemeClr val="bg1"/>
                  </a:solidFill>
                  <a:latin typeface="Impact" pitchFamily="34" charset="0"/>
                  <a:ea typeface="微软雅黑" panose="020B0503020204020204" pitchFamily="34" charset="-122"/>
                </a:rPr>
                <a:t>   04</a:t>
              </a:r>
              <a:endParaRPr lang="zh-CN" altLang="en-US" sz="1050" dirty="0">
                <a:solidFill>
                  <a:schemeClr val="bg1"/>
                </a:solidFill>
                <a:latin typeface="Impact" pitchFamily="34" charset="0"/>
                <a:ea typeface="微软雅黑" panose="020B0503020204020204" pitchFamily="34" charset="-122"/>
              </a:endParaRPr>
            </a:p>
            <a:p>
              <a:endParaRPr lang="en-US" altLang="zh-CN" sz="1100" b="1" dirty="0">
                <a:solidFill>
                  <a:schemeClr val="bg1"/>
                </a:solidFill>
                <a:latin typeface="Impact" pitchFamily="34" charset="0"/>
                <a:ea typeface="微软雅黑" panose="020B0503020204020204" pitchFamily="34" charset="-122"/>
              </a:endParaRPr>
            </a:p>
          </p:txBody>
        </p:sp>
      </p:grpSp>
      <p:sp>
        <p:nvSpPr>
          <p:cNvPr id="20" name="矩形 19"/>
          <p:cNvSpPr/>
          <p:nvPr/>
        </p:nvSpPr>
        <p:spPr>
          <a:xfrm>
            <a:off x="4840210" y="3468538"/>
            <a:ext cx="6301091" cy="460375"/>
          </a:xfrm>
          <a:prstGeom prst="rect">
            <a:avLst/>
          </a:prstGeom>
        </p:spPr>
        <p:txBody>
          <a:bodyPr wrap="square">
            <a:spAutoFit/>
          </a:bodyPr>
          <a:lstStyle/>
          <a:p>
            <a:r>
              <a:rPr kumimoji="1" lang="zh-CN" altLang="en-US" sz="2400" b="1" dirty="0">
                <a:solidFill>
                  <a:srgbClr val="C00000"/>
                </a:solidFill>
                <a:latin typeface="Microsoft YaHei" charset="-122"/>
                <a:ea typeface="Microsoft YaHei" charset="-122"/>
                <a:cs typeface="Microsoft YaHei" charset="-122"/>
              </a:rPr>
              <a:t>全面从严治党</a:t>
            </a:r>
            <a:endParaRPr kumimoji="1" lang="zh-CN" altLang="en-US" sz="2400" b="1" dirty="0">
              <a:solidFill>
                <a:srgbClr val="C00000"/>
              </a:solidFill>
              <a:latin typeface="Microsoft YaHei" charset="-122"/>
              <a:ea typeface="Microsoft YaHei" charset="-122"/>
              <a:cs typeface="Microsoft YaHei" charset="-122"/>
            </a:endParaRPr>
          </a:p>
        </p:txBody>
      </p:sp>
      <p:sp>
        <p:nvSpPr>
          <p:cNvPr id="23" name="文本框 22"/>
          <p:cNvSpPr txBox="true"/>
          <p:nvPr/>
        </p:nvSpPr>
        <p:spPr>
          <a:xfrm>
            <a:off x="317799" y="2000547"/>
            <a:ext cx="2899799" cy="1323439"/>
          </a:xfrm>
          <a:prstGeom prst="rect">
            <a:avLst/>
          </a:prstGeom>
          <a:noFill/>
        </p:spPr>
        <p:txBody>
          <a:bodyPr vert="horz" wrap="square" rtlCol="0">
            <a:spAutoFit/>
          </a:bodyPr>
          <a:lstStyle/>
          <a:p>
            <a:pPr algn="dist"/>
            <a:r>
              <a:rPr kumimoji="1" lang="zh-CN" altLang="en-US" sz="8000" b="1" dirty="0" smtClean="0">
                <a:solidFill>
                  <a:srgbClr val="C00000"/>
                </a:solidFill>
                <a:latin typeface="Microsoft YaHei" charset="-122"/>
                <a:ea typeface="Microsoft YaHei" charset="-122"/>
                <a:cs typeface="Microsoft YaHei" charset="-122"/>
              </a:rPr>
              <a:t>目录</a:t>
            </a:r>
            <a:endParaRPr kumimoji="1" lang="zh-CN" altLang="en-US" sz="8000" b="1" dirty="0">
              <a:solidFill>
                <a:srgbClr val="C00000"/>
              </a:solidFill>
              <a:latin typeface="Microsoft YaHei" charset="-122"/>
              <a:ea typeface="Microsoft YaHei" charset="-122"/>
              <a:cs typeface="Microsoft YaHei"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3"/>
          <p:cNvGrpSpPr/>
          <p:nvPr/>
        </p:nvGrpSpPr>
        <p:grpSpPr>
          <a:xfrm>
            <a:off x="969238" y="1881626"/>
            <a:ext cx="3101811" cy="1925875"/>
            <a:chOff x="4877086" y="1002142"/>
            <a:chExt cx="2437824" cy="1513614"/>
          </a:xfrm>
        </p:grpSpPr>
        <p:grpSp>
          <p:nvGrpSpPr>
            <p:cNvPr id="3" name="组合 18"/>
            <p:cNvGrpSpPr/>
            <p:nvPr/>
          </p:nvGrpSpPr>
          <p:grpSpPr>
            <a:xfrm>
              <a:off x="4877086" y="1002142"/>
              <a:ext cx="2437824" cy="1513614"/>
              <a:chOff x="749490" y="1780093"/>
              <a:chExt cx="4179592" cy="2595056"/>
            </a:xfrm>
            <a:solidFill>
              <a:srgbClr val="C00000"/>
            </a:solidFill>
          </p:grpSpPr>
          <p:sp>
            <p:nvSpPr>
              <p:cNvPr id="5" name="Freeform 5"/>
              <p:cNvSpPr/>
              <p:nvPr/>
            </p:nvSpPr>
            <p:spPr bwMode="auto">
              <a:xfrm rot="391565">
                <a:off x="847620" y="1780093"/>
                <a:ext cx="4081462" cy="2565399"/>
              </a:xfrm>
              <a:custGeom>
                <a:avLst/>
                <a:gdLst>
                  <a:gd name="T0" fmla="*/ 14 w 321"/>
                  <a:gd name="T1" fmla="*/ 31 h 201"/>
                  <a:gd name="T2" fmla="*/ 90 w 321"/>
                  <a:gd name="T3" fmla="*/ 2 h 201"/>
                  <a:gd name="T4" fmla="*/ 163 w 321"/>
                  <a:gd name="T5" fmla="*/ 21 h 201"/>
                  <a:gd name="T6" fmla="*/ 277 w 321"/>
                  <a:gd name="T7" fmla="*/ 26 h 201"/>
                  <a:gd name="T8" fmla="*/ 284 w 321"/>
                  <a:gd name="T9" fmla="*/ 118 h 201"/>
                  <a:gd name="T10" fmla="*/ 321 w 321"/>
                  <a:gd name="T11" fmla="*/ 178 h 201"/>
                  <a:gd name="T12" fmla="*/ 210 w 321"/>
                  <a:gd name="T13" fmla="*/ 185 h 201"/>
                  <a:gd name="T14" fmla="*/ 73 w 321"/>
                  <a:gd name="T15" fmla="*/ 189 h 201"/>
                  <a:gd name="T16" fmla="*/ 12 w 321"/>
                  <a:gd name="T17" fmla="*/ 32 h 201"/>
                  <a:gd name="T18" fmla="*/ 2 w 321"/>
                  <a:gd name="T19" fmla="*/ 19 h 201"/>
                  <a:gd name="T20" fmla="*/ 0 w 321"/>
                  <a:gd name="T21" fmla="*/ 0 h 201"/>
                  <a:gd name="T22" fmla="*/ 12 w 321"/>
                  <a:gd name="T23" fmla="*/ 15 h 201"/>
                  <a:gd name="T24" fmla="*/ 14 w 321"/>
                  <a:gd name="T25" fmla="*/ 31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1" h="201">
                    <a:moveTo>
                      <a:pt x="14" y="31"/>
                    </a:moveTo>
                    <a:cubicBezTo>
                      <a:pt x="14" y="31"/>
                      <a:pt x="41" y="6"/>
                      <a:pt x="90" y="2"/>
                    </a:cubicBezTo>
                    <a:cubicBezTo>
                      <a:pt x="90" y="2"/>
                      <a:pt x="132" y="0"/>
                      <a:pt x="163" y="21"/>
                    </a:cubicBezTo>
                    <a:cubicBezTo>
                      <a:pt x="163" y="21"/>
                      <a:pt x="224" y="60"/>
                      <a:pt x="277" y="26"/>
                    </a:cubicBezTo>
                    <a:cubicBezTo>
                      <a:pt x="277" y="26"/>
                      <a:pt x="265" y="56"/>
                      <a:pt x="284" y="118"/>
                    </a:cubicBezTo>
                    <a:cubicBezTo>
                      <a:pt x="284" y="118"/>
                      <a:pt x="295" y="163"/>
                      <a:pt x="321" y="178"/>
                    </a:cubicBezTo>
                    <a:cubicBezTo>
                      <a:pt x="321" y="178"/>
                      <a:pt x="266" y="201"/>
                      <a:pt x="210" y="185"/>
                    </a:cubicBezTo>
                    <a:cubicBezTo>
                      <a:pt x="210" y="185"/>
                      <a:pt x="134" y="161"/>
                      <a:pt x="73" y="189"/>
                    </a:cubicBezTo>
                    <a:lnTo>
                      <a:pt x="12" y="32"/>
                    </a:lnTo>
                    <a:lnTo>
                      <a:pt x="2" y="19"/>
                    </a:lnTo>
                    <a:lnTo>
                      <a:pt x="0" y="0"/>
                    </a:lnTo>
                    <a:lnTo>
                      <a:pt x="12" y="15"/>
                    </a:lnTo>
                    <a:lnTo>
                      <a:pt x="14" y="31"/>
                    </a:lnTo>
                    <a:close/>
                  </a:path>
                </a:pathLst>
              </a:custGeom>
              <a:grpFill/>
              <a:ln w="12700" cap="flat">
                <a:noFill/>
                <a:prstDash val="solid"/>
                <a:miter lim="800000"/>
              </a:ln>
            </p:spPr>
            <p:txBody>
              <a:bodyPr vert="horz" wrap="square" lIns="91440" tIns="45720" rIns="91440" bIns="45720" numCol="1" anchor="t" anchorCtr="false" compatLnSpc="true"/>
              <a:lstStyle/>
              <a:p>
                <a:endParaRPr lang="zh-CN" altLang="en-US" dirty="0"/>
              </a:p>
            </p:txBody>
          </p:sp>
          <p:sp>
            <p:nvSpPr>
              <p:cNvPr id="6" name="Freeform 5"/>
              <p:cNvSpPr/>
              <p:nvPr/>
            </p:nvSpPr>
            <p:spPr bwMode="auto">
              <a:xfrm rot="208630">
                <a:off x="749490" y="1802892"/>
                <a:ext cx="4081462" cy="2565399"/>
              </a:xfrm>
              <a:custGeom>
                <a:avLst/>
                <a:gdLst>
                  <a:gd name="T0" fmla="*/ 14 w 321"/>
                  <a:gd name="T1" fmla="*/ 31 h 201"/>
                  <a:gd name="T2" fmla="*/ 90 w 321"/>
                  <a:gd name="T3" fmla="*/ 2 h 201"/>
                  <a:gd name="T4" fmla="*/ 163 w 321"/>
                  <a:gd name="T5" fmla="*/ 21 h 201"/>
                  <a:gd name="T6" fmla="*/ 277 w 321"/>
                  <a:gd name="T7" fmla="*/ 26 h 201"/>
                  <a:gd name="T8" fmla="*/ 284 w 321"/>
                  <a:gd name="T9" fmla="*/ 118 h 201"/>
                  <a:gd name="T10" fmla="*/ 321 w 321"/>
                  <a:gd name="T11" fmla="*/ 178 h 201"/>
                  <a:gd name="T12" fmla="*/ 210 w 321"/>
                  <a:gd name="T13" fmla="*/ 185 h 201"/>
                  <a:gd name="T14" fmla="*/ 73 w 321"/>
                  <a:gd name="T15" fmla="*/ 189 h 201"/>
                  <a:gd name="T16" fmla="*/ 12 w 321"/>
                  <a:gd name="T17" fmla="*/ 32 h 201"/>
                  <a:gd name="T18" fmla="*/ 2 w 321"/>
                  <a:gd name="T19" fmla="*/ 19 h 201"/>
                  <a:gd name="T20" fmla="*/ 0 w 321"/>
                  <a:gd name="T21" fmla="*/ 0 h 201"/>
                  <a:gd name="T22" fmla="*/ 12 w 321"/>
                  <a:gd name="T23" fmla="*/ 15 h 201"/>
                  <a:gd name="T24" fmla="*/ 14 w 321"/>
                  <a:gd name="T25" fmla="*/ 31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1" h="201">
                    <a:moveTo>
                      <a:pt x="14" y="31"/>
                    </a:moveTo>
                    <a:cubicBezTo>
                      <a:pt x="14" y="31"/>
                      <a:pt x="41" y="6"/>
                      <a:pt x="90" y="2"/>
                    </a:cubicBezTo>
                    <a:cubicBezTo>
                      <a:pt x="90" y="2"/>
                      <a:pt x="132" y="0"/>
                      <a:pt x="163" y="21"/>
                    </a:cubicBezTo>
                    <a:cubicBezTo>
                      <a:pt x="163" y="21"/>
                      <a:pt x="224" y="60"/>
                      <a:pt x="277" y="26"/>
                    </a:cubicBezTo>
                    <a:cubicBezTo>
                      <a:pt x="277" y="26"/>
                      <a:pt x="265" y="56"/>
                      <a:pt x="284" y="118"/>
                    </a:cubicBezTo>
                    <a:cubicBezTo>
                      <a:pt x="284" y="118"/>
                      <a:pt x="295" y="163"/>
                      <a:pt x="321" y="178"/>
                    </a:cubicBezTo>
                    <a:cubicBezTo>
                      <a:pt x="321" y="178"/>
                      <a:pt x="266" y="201"/>
                      <a:pt x="210" y="185"/>
                    </a:cubicBezTo>
                    <a:cubicBezTo>
                      <a:pt x="210" y="185"/>
                      <a:pt x="134" y="161"/>
                      <a:pt x="73" y="189"/>
                    </a:cubicBezTo>
                    <a:lnTo>
                      <a:pt x="12" y="32"/>
                    </a:lnTo>
                    <a:lnTo>
                      <a:pt x="2" y="19"/>
                    </a:lnTo>
                    <a:lnTo>
                      <a:pt x="0" y="0"/>
                    </a:lnTo>
                    <a:lnTo>
                      <a:pt x="12" y="15"/>
                    </a:lnTo>
                    <a:lnTo>
                      <a:pt x="14" y="31"/>
                    </a:lnTo>
                    <a:close/>
                  </a:path>
                </a:pathLst>
              </a:custGeom>
              <a:grpFill/>
              <a:ln w="12700" cap="flat">
                <a:noFill/>
                <a:prstDash val="solid"/>
                <a:miter lim="800000"/>
              </a:ln>
            </p:spPr>
            <p:txBody>
              <a:bodyPr vert="horz" wrap="square" lIns="91440" tIns="45720" rIns="91440" bIns="45720" numCol="1" anchor="t" anchorCtr="false" compatLnSpc="true"/>
              <a:lstStyle/>
              <a:p>
                <a:endParaRPr lang="zh-CN" altLang="en-US" dirty="0"/>
              </a:p>
            </p:txBody>
          </p:sp>
          <p:sp>
            <p:nvSpPr>
              <p:cNvPr id="7" name="Freeform 5"/>
              <p:cNvSpPr/>
              <p:nvPr/>
            </p:nvSpPr>
            <p:spPr bwMode="auto">
              <a:xfrm rot="21425701">
                <a:off x="798853" y="1809750"/>
                <a:ext cx="4081462" cy="2565399"/>
              </a:xfrm>
              <a:custGeom>
                <a:avLst/>
                <a:gdLst>
                  <a:gd name="T0" fmla="*/ 14 w 321"/>
                  <a:gd name="T1" fmla="*/ 31 h 201"/>
                  <a:gd name="T2" fmla="*/ 90 w 321"/>
                  <a:gd name="T3" fmla="*/ 2 h 201"/>
                  <a:gd name="T4" fmla="*/ 163 w 321"/>
                  <a:gd name="T5" fmla="*/ 21 h 201"/>
                  <a:gd name="T6" fmla="*/ 277 w 321"/>
                  <a:gd name="T7" fmla="*/ 26 h 201"/>
                  <a:gd name="T8" fmla="*/ 284 w 321"/>
                  <a:gd name="T9" fmla="*/ 118 h 201"/>
                  <a:gd name="T10" fmla="*/ 321 w 321"/>
                  <a:gd name="T11" fmla="*/ 178 h 201"/>
                  <a:gd name="T12" fmla="*/ 210 w 321"/>
                  <a:gd name="T13" fmla="*/ 185 h 201"/>
                  <a:gd name="T14" fmla="*/ 73 w 321"/>
                  <a:gd name="T15" fmla="*/ 189 h 201"/>
                  <a:gd name="T16" fmla="*/ 12 w 321"/>
                  <a:gd name="T17" fmla="*/ 32 h 201"/>
                  <a:gd name="T18" fmla="*/ 2 w 321"/>
                  <a:gd name="T19" fmla="*/ 19 h 201"/>
                  <a:gd name="T20" fmla="*/ 0 w 321"/>
                  <a:gd name="T21" fmla="*/ 0 h 201"/>
                  <a:gd name="T22" fmla="*/ 12 w 321"/>
                  <a:gd name="T23" fmla="*/ 15 h 201"/>
                  <a:gd name="T24" fmla="*/ 14 w 321"/>
                  <a:gd name="T25" fmla="*/ 31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1" h="201">
                    <a:moveTo>
                      <a:pt x="14" y="31"/>
                    </a:moveTo>
                    <a:cubicBezTo>
                      <a:pt x="14" y="31"/>
                      <a:pt x="41" y="6"/>
                      <a:pt x="90" y="2"/>
                    </a:cubicBezTo>
                    <a:cubicBezTo>
                      <a:pt x="90" y="2"/>
                      <a:pt x="132" y="0"/>
                      <a:pt x="163" y="21"/>
                    </a:cubicBezTo>
                    <a:cubicBezTo>
                      <a:pt x="163" y="21"/>
                      <a:pt x="224" y="60"/>
                      <a:pt x="277" y="26"/>
                    </a:cubicBezTo>
                    <a:cubicBezTo>
                      <a:pt x="277" y="26"/>
                      <a:pt x="265" y="56"/>
                      <a:pt x="284" y="118"/>
                    </a:cubicBezTo>
                    <a:cubicBezTo>
                      <a:pt x="284" y="118"/>
                      <a:pt x="295" y="163"/>
                      <a:pt x="321" y="178"/>
                    </a:cubicBezTo>
                    <a:cubicBezTo>
                      <a:pt x="321" y="178"/>
                      <a:pt x="266" y="201"/>
                      <a:pt x="210" y="185"/>
                    </a:cubicBezTo>
                    <a:cubicBezTo>
                      <a:pt x="210" y="185"/>
                      <a:pt x="134" y="161"/>
                      <a:pt x="73" y="189"/>
                    </a:cubicBezTo>
                    <a:lnTo>
                      <a:pt x="12" y="32"/>
                    </a:lnTo>
                    <a:lnTo>
                      <a:pt x="2" y="19"/>
                    </a:lnTo>
                    <a:lnTo>
                      <a:pt x="0" y="0"/>
                    </a:lnTo>
                    <a:lnTo>
                      <a:pt x="12" y="15"/>
                    </a:lnTo>
                    <a:lnTo>
                      <a:pt x="14" y="31"/>
                    </a:lnTo>
                    <a:close/>
                  </a:path>
                </a:pathLst>
              </a:custGeom>
              <a:grpFill/>
              <a:ln w="12700" cap="flat">
                <a:noFill/>
                <a:prstDash val="solid"/>
                <a:miter lim="800000"/>
              </a:ln>
            </p:spPr>
            <p:txBody>
              <a:bodyPr vert="horz" wrap="square" lIns="91440" tIns="45720" rIns="91440" bIns="45720" numCol="1" anchor="t" anchorCtr="false" compatLnSpc="true"/>
              <a:lstStyle/>
              <a:p>
                <a:endParaRPr lang="zh-CN" altLang="en-US" dirty="0"/>
              </a:p>
            </p:txBody>
          </p:sp>
        </p:grpSp>
        <p:sp>
          <p:nvSpPr>
            <p:cNvPr id="4" name="文本框 3"/>
            <p:cNvSpPr txBox="true"/>
            <p:nvPr/>
          </p:nvSpPr>
          <p:spPr>
            <a:xfrm>
              <a:off x="5700519" y="1433022"/>
              <a:ext cx="1175893" cy="725678"/>
            </a:xfrm>
            <a:prstGeom prst="rect">
              <a:avLst/>
            </a:prstGeom>
            <a:noFill/>
          </p:spPr>
          <p:txBody>
            <a:bodyPr wrap="square" rtlCol="0">
              <a:spAutoFit/>
            </a:bodyPr>
            <a:lstStyle/>
            <a:p>
              <a:r>
                <a:rPr lang="en-US" altLang="zh-CN" sz="5400" i="1" dirty="0">
                  <a:solidFill>
                    <a:schemeClr val="bg1"/>
                  </a:solidFill>
                  <a:latin typeface="Avenir Medium Oblique" charset="0"/>
                  <a:ea typeface="Avenir Medium Oblique" charset="0"/>
                  <a:cs typeface="Avenir Medium Oblique" charset="0"/>
                </a:rPr>
                <a:t>01</a:t>
              </a:r>
              <a:endParaRPr lang="zh-CN" altLang="en-US" sz="5400" i="1" dirty="0">
                <a:solidFill>
                  <a:schemeClr val="bg1"/>
                </a:solidFill>
                <a:latin typeface="Avenir Medium Oblique" charset="0"/>
                <a:ea typeface="Avenir Medium Oblique" charset="0"/>
                <a:cs typeface="Avenir Medium Oblique" charset="0"/>
              </a:endParaRPr>
            </a:p>
          </p:txBody>
        </p:sp>
      </p:grpSp>
      <p:pic>
        <p:nvPicPr>
          <p:cNvPr id="8" name="图片 7"/>
          <p:cNvPicPr>
            <a:picLocks noChangeAspect="true"/>
          </p:cNvPicPr>
          <p:nvPr/>
        </p:nvPicPr>
        <p:blipFill>
          <a:blip r:embed="rId1" cstate="screen"/>
          <a:stretch>
            <a:fillRect/>
          </a:stretch>
        </p:blipFill>
        <p:spPr>
          <a:xfrm>
            <a:off x="4198822" y="724097"/>
            <a:ext cx="1604134" cy="1663087"/>
          </a:xfrm>
          <a:prstGeom prst="rect">
            <a:avLst/>
          </a:prstGeom>
        </p:spPr>
      </p:pic>
      <p:sp>
        <p:nvSpPr>
          <p:cNvPr id="9" name="矩形 8"/>
          <p:cNvSpPr/>
          <p:nvPr/>
        </p:nvSpPr>
        <p:spPr>
          <a:xfrm>
            <a:off x="4198620" y="2386965"/>
            <a:ext cx="7661910" cy="15640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4400" b="1" dirty="0">
                <a:solidFill>
                  <a:srgbClr val="C00000"/>
                </a:solidFill>
                <a:latin typeface="Microsoft YaHei" charset="-122"/>
                <a:ea typeface="Microsoft YaHei" charset="-122"/>
                <a:cs typeface="Microsoft YaHei" charset="-122"/>
              </a:rPr>
              <a:t>全面建设社会主义现代化国家</a:t>
            </a:r>
            <a:endParaRPr kumimoji="1" lang="zh-CN" altLang="en-US" sz="4400" b="1" dirty="0">
              <a:solidFill>
                <a:srgbClr val="C00000"/>
              </a:solidFill>
              <a:latin typeface="Microsoft YaHei" charset="-122"/>
              <a:ea typeface="Microsoft YaHei" charset="-122"/>
              <a:cs typeface="Microsoft YaHei"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ppt_w</p:attrName>
                                        </p:attrNameLst>
                                      </p:cBhvr>
                                      <p:tavLst>
                                        <p:tav tm="0">
                                          <p:val>
                                            <p:fltVal val="0"/>
                                          </p:val>
                                        </p:tav>
                                        <p:tav tm="100000">
                                          <p:val>
                                            <p:strVal val="#ppt_w"/>
                                          </p:val>
                                        </p:tav>
                                      </p:tavLst>
                                    </p:anim>
                                    <p:anim calcmode="lin" valueType="num">
                                      <p:cBhvr>
                                        <p:cTn id="16" dur="500" fill="hold"/>
                                        <p:tgtEl>
                                          <p:spTgt spid="8"/>
                                        </p:tgtEl>
                                        <p:attrNameLst>
                                          <p:attrName>ppt_h</p:attrName>
                                        </p:attrNameLst>
                                      </p:cBhvr>
                                      <p:tavLst>
                                        <p:tav tm="0">
                                          <p:val>
                                            <p:fltVal val="0"/>
                                          </p:val>
                                        </p:tav>
                                        <p:tav tm="100000">
                                          <p:val>
                                            <p:strVal val="#ppt_h"/>
                                          </p:val>
                                        </p:tav>
                                      </p:tavLst>
                                    </p:anim>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checkerboard(across)">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tru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439056"/>
            <a:ext cx="12192000" cy="3492708"/>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文本框 1"/>
          <p:cNvSpPr txBox="true"/>
          <p:nvPr/>
        </p:nvSpPr>
        <p:spPr>
          <a:xfrm>
            <a:off x="329783" y="1754249"/>
            <a:ext cx="7405141" cy="2861310"/>
          </a:xfrm>
          <a:prstGeom prst="rect">
            <a:avLst/>
          </a:prstGeom>
          <a:noFill/>
        </p:spPr>
        <p:txBody>
          <a:bodyPr wrap="square" rtlCol="0">
            <a:spAutoFit/>
          </a:bodyPr>
          <a:lstStyle/>
          <a:p>
            <a:pPr>
              <a:lnSpc>
                <a:spcPct val="200000"/>
              </a:lnSpc>
            </a:pPr>
            <a:r>
              <a:rPr lang="zh-CN" spc="-1">
                <a:solidFill>
                  <a:schemeClr val="bg1"/>
                </a:solidFill>
                <a:latin typeface="Arial"/>
                <a:sym typeface="+mn-ea"/>
              </a:rPr>
              <a:t>全面建成小康社会是中国共产党第十八次全国代表大会提出的重大战略任务。党的十八大报告提出确保到</a:t>
            </a:r>
            <a:r>
              <a:rPr lang="en-US" spc="-1">
                <a:solidFill>
                  <a:schemeClr val="bg1"/>
                </a:solidFill>
                <a:latin typeface="Arial"/>
                <a:sym typeface="+mn-ea"/>
              </a:rPr>
              <a:t>2020</a:t>
            </a:r>
            <a:r>
              <a:rPr lang="zh-CN" spc="-1">
                <a:solidFill>
                  <a:schemeClr val="bg1"/>
                </a:solidFill>
                <a:latin typeface="Arial"/>
                <a:sym typeface="+mn-ea"/>
              </a:rPr>
              <a:t>年实现全面建成小康社会宏伟目标的时间表，以及经济持续健康发展，人民民主不断扩大，文化软实力显著增强，人民生活水平全面提高，资源节约型、环境友好型社会建设取得重大进展等具体内涵。</a:t>
            </a:r>
            <a:endParaRPr kumimoji="1" lang="zh-CN" altLang="en-US" spc="-1" dirty="0">
              <a:solidFill>
                <a:schemeClr val="bg1"/>
              </a:solidFill>
              <a:latin typeface="Arial"/>
              <a:ea typeface="Microsoft YaHei" charset="-122"/>
              <a:cs typeface="Microsoft YaHei" charset="-122"/>
              <a:sym typeface="+mn-ea"/>
            </a:endParaRPr>
          </a:p>
        </p:txBody>
      </p:sp>
      <p:pic>
        <p:nvPicPr>
          <p:cNvPr id="4" name="图片 3"/>
          <p:cNvPicPr>
            <a:picLocks noChangeAspect="true"/>
          </p:cNvPicPr>
          <p:nvPr/>
        </p:nvPicPr>
        <p:blipFill>
          <a:blip r:embed="rId1" cstate="screen"/>
          <a:stretch>
            <a:fillRect/>
          </a:stretch>
        </p:blipFill>
        <p:spPr>
          <a:xfrm>
            <a:off x="8534245" y="1754249"/>
            <a:ext cx="2858434" cy="2963483"/>
          </a:xfrm>
          <a:prstGeom prst="rect">
            <a:avLst/>
          </a:prstGeom>
        </p:spPr>
      </p:pic>
      <p:grpSp>
        <p:nvGrpSpPr>
          <p:cNvPr id="7" name="组 6"/>
          <p:cNvGrpSpPr/>
          <p:nvPr/>
        </p:nvGrpSpPr>
        <p:grpSpPr>
          <a:xfrm>
            <a:off x="329783" y="163779"/>
            <a:ext cx="4645375" cy="604467"/>
            <a:chOff x="4483635" y="-255945"/>
            <a:chExt cx="4645375" cy="604467"/>
          </a:xfrm>
        </p:grpSpPr>
        <p:pic>
          <p:nvPicPr>
            <p:cNvPr id="5" name="图片 4"/>
            <p:cNvPicPr>
              <a:picLocks noChangeAspect="true"/>
            </p:cNvPicPr>
            <p:nvPr/>
          </p:nvPicPr>
          <p:blipFill>
            <a:blip r:embed="rId2" cstate="screen"/>
            <a:stretch>
              <a:fillRect/>
            </a:stretch>
          </p:blipFill>
          <p:spPr>
            <a:xfrm>
              <a:off x="4483635" y="-255945"/>
              <a:ext cx="583040" cy="604467"/>
            </a:xfrm>
            <a:prstGeom prst="rect">
              <a:avLst/>
            </a:prstGeom>
          </p:spPr>
        </p:pic>
        <p:sp>
          <p:nvSpPr>
            <p:cNvPr id="6" name="矩形 5"/>
            <p:cNvSpPr/>
            <p:nvPr/>
          </p:nvSpPr>
          <p:spPr>
            <a:xfrm>
              <a:off x="5066675" y="-177188"/>
              <a:ext cx="4062335" cy="455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zh-CN" altLang="en-US" sz="2400" b="1" dirty="0">
                <a:solidFill>
                  <a:srgbClr val="C00000"/>
                </a:solidFill>
                <a:latin typeface="Microsoft YaHei" charset="-122"/>
                <a:ea typeface="Microsoft YaHei" charset="-122"/>
                <a:cs typeface="Microsoft YaHei" charset="-122"/>
              </a:endParaRPr>
            </a:p>
          </p:txBody>
        </p:sp>
      </p:grpSp>
      <p:sp>
        <p:nvSpPr>
          <p:cNvPr id="8" name="文本框 7"/>
          <p:cNvSpPr txBox="true"/>
          <p:nvPr/>
        </p:nvSpPr>
        <p:spPr>
          <a:xfrm>
            <a:off x="912495" y="329565"/>
            <a:ext cx="3171190" cy="368300"/>
          </a:xfrm>
          <a:prstGeom prst="rect">
            <a:avLst/>
          </a:prstGeom>
          <a:noFill/>
        </p:spPr>
        <p:txBody>
          <a:bodyPr wrap="none" rtlCol="0" anchor="t">
            <a:spAutoFit/>
          </a:bodyPr>
          <a:p>
            <a:pPr algn="l"/>
            <a:r>
              <a:rPr kumimoji="1" lang="zh-CN" altLang="en-US" b="1" dirty="0">
                <a:solidFill>
                  <a:srgbClr val="C00000"/>
                </a:solidFill>
                <a:latin typeface="Microsoft YaHei" charset="-122"/>
                <a:ea typeface="Microsoft YaHei" charset="-122"/>
                <a:cs typeface="Microsoft YaHei" charset="-122"/>
                <a:sym typeface="+mn-ea"/>
              </a:rPr>
              <a:t>全面建设社会主义现代化国家</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4277271" y="3139259"/>
            <a:ext cx="2908930" cy="2868234"/>
          </a:xfrm>
          <a:prstGeom prst="ellipse">
            <a:avLst/>
          </a:prstGeom>
          <a:solidFill>
            <a:srgbClr val="C80000"/>
          </a:solidFill>
          <a:ln w="3175" cap="flat" cmpd="sng" algn="ctr">
            <a:solidFill>
              <a:srgbClr val="C00000"/>
            </a:solidFill>
            <a:prstDash val="solid"/>
          </a:ln>
          <a:effectLst/>
          <a:scene3d>
            <a:camera prst="orthographicFront">
              <a:rot lat="0" lon="0" rev="0"/>
            </a:camera>
            <a:lightRig rig="soft" dir="t">
              <a:rot lat="0" lon="0" rev="0"/>
            </a:lightRig>
          </a:scene3d>
          <a:sp3d contourW="44450" prstMaterial="matte">
            <a:contourClr>
              <a:srgbClr val="FFFFFF"/>
            </a:contourClr>
          </a:sp3d>
        </p:spPr>
      </p:sp>
      <p:sp>
        <p:nvSpPr>
          <p:cNvPr id="3" name="左箭头 3"/>
          <p:cNvSpPr/>
          <p:nvPr/>
        </p:nvSpPr>
        <p:spPr>
          <a:xfrm rot="12900000">
            <a:off x="3458504" y="2844970"/>
            <a:ext cx="1510013" cy="381540"/>
          </a:xfrm>
          <a:prstGeom prst="leftArrow">
            <a:avLst>
              <a:gd name="adj1" fmla="val 60000"/>
              <a:gd name="adj2" fmla="val 50000"/>
            </a:avLst>
          </a:prstGeom>
          <a:solidFill>
            <a:srgbClr val="C80000"/>
          </a:solidFill>
          <a:ln w="3175" cap="flat" cmpd="sng" algn="ctr">
            <a:solidFill>
              <a:srgbClr val="D7D7D7"/>
            </a:solidFill>
            <a:prstDash val="solid"/>
          </a:ln>
          <a:effectLst>
            <a:outerShdw blurRad="50800" dist="38100" dir="2700000" algn="tl" rotWithShape="0">
              <a:prstClr val="black">
                <a:alpha val="40000"/>
              </a:prstClr>
            </a:outerShdw>
          </a:effectLst>
        </p:spPr>
      </p:sp>
      <p:sp>
        <p:nvSpPr>
          <p:cNvPr id="4" name="圆角矩形 4"/>
          <p:cNvSpPr/>
          <p:nvPr/>
        </p:nvSpPr>
        <p:spPr>
          <a:xfrm>
            <a:off x="1194099" y="1521219"/>
            <a:ext cx="2524201" cy="1514521"/>
          </a:xfrm>
          <a:prstGeom prst="roundRect">
            <a:avLst>
              <a:gd name="adj" fmla="val 10000"/>
            </a:avLst>
          </a:prstGeom>
          <a:solidFill>
            <a:srgbClr val="C00000"/>
          </a:solidFill>
          <a:ln w="3175" cap="flat" cmpd="sng" algn="ctr">
            <a:solidFill>
              <a:srgbClr val="D7D7D7"/>
            </a:solidFill>
            <a:prstDash val="solid"/>
          </a:ln>
          <a:effectLst>
            <a:outerShdw blurRad="50800" dist="38100" dir="2700000" algn="tl" rotWithShape="0">
              <a:prstClr val="black">
                <a:alpha val="40000"/>
              </a:prstClr>
            </a:outerShdw>
          </a:effectLst>
        </p:spPr>
      </p:sp>
      <p:sp>
        <p:nvSpPr>
          <p:cNvPr id="5" name="左箭头 5"/>
          <p:cNvSpPr/>
          <p:nvPr/>
        </p:nvSpPr>
        <p:spPr>
          <a:xfrm rot="16200000">
            <a:off x="5113210" y="2345875"/>
            <a:ext cx="1132510" cy="508720"/>
          </a:xfrm>
          <a:prstGeom prst="leftArrow">
            <a:avLst>
              <a:gd name="adj1" fmla="val 60000"/>
              <a:gd name="adj2" fmla="val 50000"/>
            </a:avLst>
          </a:prstGeom>
          <a:solidFill>
            <a:srgbClr val="C80000"/>
          </a:solidFill>
          <a:ln w="3175" cap="flat" cmpd="sng" algn="ctr">
            <a:solidFill>
              <a:srgbClr val="D7D7D7"/>
            </a:solidFill>
            <a:prstDash val="solid"/>
          </a:ln>
          <a:effectLst>
            <a:outerShdw blurRad="50800" dist="38100" dir="2700000" algn="tl" rotWithShape="0">
              <a:prstClr val="black">
                <a:alpha val="40000"/>
              </a:prstClr>
            </a:outerShdw>
          </a:effectLst>
        </p:spPr>
      </p:sp>
      <p:sp>
        <p:nvSpPr>
          <p:cNvPr id="6" name="圆角矩形 6"/>
          <p:cNvSpPr>
            <a:spLocks noChangeAspect="true"/>
          </p:cNvSpPr>
          <p:nvPr/>
        </p:nvSpPr>
        <p:spPr>
          <a:xfrm>
            <a:off x="4231960" y="689559"/>
            <a:ext cx="2782818" cy="1447200"/>
          </a:xfrm>
          <a:prstGeom prst="roundRect">
            <a:avLst>
              <a:gd name="adj" fmla="val 10000"/>
            </a:avLst>
          </a:prstGeom>
          <a:solidFill>
            <a:srgbClr val="C00000"/>
          </a:solidFill>
          <a:ln w="3175" cap="flat" cmpd="sng" algn="ctr">
            <a:solidFill>
              <a:srgbClr val="D7D7D7"/>
            </a:solidFill>
            <a:prstDash val="solid"/>
          </a:ln>
          <a:effectLst>
            <a:outerShdw blurRad="50800" dist="38100" dir="2700000" algn="tl" rotWithShape="0">
              <a:prstClr val="black">
                <a:alpha val="40000"/>
              </a:prstClr>
            </a:outerShdw>
          </a:effectLst>
        </p:spPr>
      </p:sp>
      <p:sp>
        <p:nvSpPr>
          <p:cNvPr id="7" name="左箭头 7"/>
          <p:cNvSpPr/>
          <p:nvPr/>
        </p:nvSpPr>
        <p:spPr>
          <a:xfrm rot="19500000">
            <a:off x="6271639" y="2729564"/>
            <a:ext cx="1510013" cy="381540"/>
          </a:xfrm>
          <a:prstGeom prst="leftArrow">
            <a:avLst>
              <a:gd name="adj1" fmla="val 60000"/>
              <a:gd name="adj2" fmla="val 50000"/>
            </a:avLst>
          </a:prstGeom>
          <a:solidFill>
            <a:srgbClr val="C80000"/>
          </a:solidFill>
          <a:ln w="3175" cap="flat" cmpd="sng" algn="ctr">
            <a:solidFill>
              <a:srgbClr val="D7D7D7"/>
            </a:solidFill>
            <a:prstDash val="solid"/>
          </a:ln>
          <a:effectLst>
            <a:outerShdw blurRad="50800" dist="38100" dir="2700000" algn="tl" rotWithShape="0">
              <a:prstClr val="black">
                <a:alpha val="40000"/>
              </a:prstClr>
            </a:outerShdw>
          </a:effectLst>
        </p:spPr>
      </p:sp>
      <p:sp>
        <p:nvSpPr>
          <p:cNvPr id="8" name="圆角矩形 8"/>
          <p:cNvSpPr>
            <a:spLocks noChangeAspect="true"/>
          </p:cNvSpPr>
          <p:nvPr/>
        </p:nvSpPr>
        <p:spPr>
          <a:xfrm>
            <a:off x="7528438" y="1638512"/>
            <a:ext cx="3246168" cy="1440000"/>
          </a:xfrm>
          <a:prstGeom prst="roundRect">
            <a:avLst>
              <a:gd name="adj" fmla="val 10000"/>
            </a:avLst>
          </a:prstGeom>
          <a:solidFill>
            <a:srgbClr val="C00000"/>
          </a:solidFill>
          <a:ln w="3175" cap="flat" cmpd="sng" algn="ctr">
            <a:solidFill>
              <a:srgbClr val="D7D7D7"/>
            </a:solidFill>
            <a:prstDash val="solid"/>
          </a:ln>
          <a:effectLst>
            <a:outerShdw blurRad="50800" dist="38100" dir="2700000" algn="tl" rotWithShape="0">
              <a:prstClr val="black">
                <a:alpha val="40000"/>
              </a:prstClr>
            </a:outerShdw>
          </a:effectLst>
        </p:spPr>
      </p:sp>
      <p:sp>
        <p:nvSpPr>
          <p:cNvPr id="9" name="矩形 8"/>
          <p:cNvSpPr/>
          <p:nvPr/>
        </p:nvSpPr>
        <p:spPr>
          <a:xfrm>
            <a:off x="1293514" y="1638512"/>
            <a:ext cx="2325370" cy="1198880"/>
          </a:xfrm>
          <a:prstGeom prst="rect">
            <a:avLst/>
          </a:prstGeom>
        </p:spPr>
        <p:txBody>
          <a:bodyPr wrap="none">
            <a:spAutoFit/>
          </a:bodyPr>
          <a:lstStyle/>
          <a:p>
            <a:pPr algn="ctr">
              <a:lnSpc>
                <a:spcPct val="150000"/>
              </a:lnSpc>
            </a:pPr>
            <a:r>
              <a:rPr kumimoji="1" lang="zh-CN" altLang="en-US" sz="2400" b="1" dirty="0">
                <a:solidFill>
                  <a:schemeClr val="bg1"/>
                </a:solidFill>
                <a:latin typeface="Microsoft YaHei" charset="-122"/>
                <a:ea typeface="Microsoft YaHei" charset="-122"/>
                <a:cs typeface="Microsoft YaHei" charset="-122"/>
              </a:rPr>
              <a:t>极大促进各民族</a:t>
            </a:r>
            <a:endParaRPr kumimoji="1" lang="zh-CN" altLang="en-US" sz="2400" b="1" dirty="0">
              <a:solidFill>
                <a:schemeClr val="bg1"/>
              </a:solidFill>
              <a:latin typeface="Microsoft YaHei" charset="-122"/>
              <a:ea typeface="Microsoft YaHei" charset="-122"/>
              <a:cs typeface="Microsoft YaHei" charset="-122"/>
            </a:endParaRPr>
          </a:p>
          <a:p>
            <a:pPr algn="ctr">
              <a:lnSpc>
                <a:spcPct val="150000"/>
              </a:lnSpc>
            </a:pPr>
            <a:r>
              <a:rPr kumimoji="1" lang="zh-CN" altLang="en-US" sz="2400" b="1" dirty="0">
                <a:solidFill>
                  <a:schemeClr val="bg1"/>
                </a:solidFill>
                <a:latin typeface="Microsoft YaHei" charset="-122"/>
                <a:ea typeface="Microsoft YaHei" charset="-122"/>
                <a:cs typeface="Microsoft YaHei" charset="-122"/>
              </a:rPr>
              <a:t>共同富裕</a:t>
            </a:r>
            <a:endParaRPr kumimoji="1" lang="zh-CN" altLang="en-US" sz="2400" b="1" dirty="0">
              <a:solidFill>
                <a:schemeClr val="bg1"/>
              </a:solidFill>
              <a:latin typeface="Microsoft YaHei" charset="-122"/>
              <a:ea typeface="Microsoft YaHei" charset="-122"/>
              <a:cs typeface="Microsoft YaHei" charset="-122"/>
            </a:endParaRPr>
          </a:p>
        </p:txBody>
      </p:sp>
      <p:sp>
        <p:nvSpPr>
          <p:cNvPr id="10" name="矩形 9"/>
          <p:cNvSpPr/>
          <p:nvPr/>
        </p:nvSpPr>
        <p:spPr>
          <a:xfrm>
            <a:off x="4545749" y="812994"/>
            <a:ext cx="2019300" cy="1198880"/>
          </a:xfrm>
          <a:prstGeom prst="rect">
            <a:avLst/>
          </a:prstGeom>
        </p:spPr>
        <p:txBody>
          <a:bodyPr wrap="none">
            <a:spAutoFit/>
          </a:bodyPr>
          <a:lstStyle/>
          <a:p>
            <a:pPr algn="ctr">
              <a:lnSpc>
                <a:spcPct val="150000"/>
              </a:lnSpc>
            </a:pPr>
            <a:r>
              <a:rPr kumimoji="1" lang="zh-CN" altLang="en-US" sz="2400" b="1" dirty="0">
                <a:solidFill>
                  <a:schemeClr val="bg1"/>
                </a:solidFill>
                <a:latin typeface="Microsoft YaHei" charset="-122"/>
                <a:ea typeface="Microsoft YaHei" charset="-122"/>
                <a:cs typeface="Microsoft YaHei" charset="-122"/>
              </a:rPr>
              <a:t>实现中华民族</a:t>
            </a:r>
            <a:endParaRPr kumimoji="1" lang="zh-CN" altLang="en-US" sz="2400" b="1" dirty="0">
              <a:solidFill>
                <a:schemeClr val="bg1"/>
              </a:solidFill>
              <a:latin typeface="Microsoft YaHei" charset="-122"/>
              <a:ea typeface="Microsoft YaHei" charset="-122"/>
              <a:cs typeface="Microsoft YaHei" charset="-122"/>
            </a:endParaRPr>
          </a:p>
          <a:p>
            <a:pPr algn="ctr">
              <a:lnSpc>
                <a:spcPct val="150000"/>
              </a:lnSpc>
            </a:pPr>
            <a:r>
              <a:rPr kumimoji="1" lang="zh-CN" altLang="en-US" sz="2400" b="1" dirty="0">
                <a:solidFill>
                  <a:schemeClr val="bg1"/>
                </a:solidFill>
                <a:latin typeface="Microsoft YaHei" charset="-122"/>
                <a:ea typeface="Microsoft YaHei" charset="-122"/>
                <a:cs typeface="Microsoft YaHei" charset="-122"/>
              </a:rPr>
              <a:t>伟大复兴</a:t>
            </a:r>
            <a:endParaRPr kumimoji="1" lang="zh-CN" altLang="en-US" sz="2400" b="1" dirty="0">
              <a:solidFill>
                <a:schemeClr val="bg1"/>
              </a:solidFill>
              <a:latin typeface="Microsoft YaHei" charset="-122"/>
              <a:ea typeface="Microsoft YaHei" charset="-122"/>
              <a:cs typeface="Microsoft YaHei" charset="-122"/>
            </a:endParaRPr>
          </a:p>
        </p:txBody>
      </p:sp>
      <p:sp>
        <p:nvSpPr>
          <p:cNvPr id="11" name="矩形 10"/>
          <p:cNvSpPr/>
          <p:nvPr/>
        </p:nvSpPr>
        <p:spPr>
          <a:xfrm>
            <a:off x="7817568" y="1758347"/>
            <a:ext cx="2631440" cy="1198880"/>
          </a:xfrm>
          <a:prstGeom prst="rect">
            <a:avLst/>
          </a:prstGeom>
        </p:spPr>
        <p:txBody>
          <a:bodyPr wrap="none">
            <a:spAutoFit/>
          </a:bodyPr>
          <a:lstStyle/>
          <a:p>
            <a:pPr algn="ctr">
              <a:lnSpc>
                <a:spcPct val="150000"/>
              </a:lnSpc>
            </a:pPr>
            <a:r>
              <a:rPr kumimoji="1" lang="zh-CN" altLang="en-US" sz="2400" b="1" dirty="0">
                <a:solidFill>
                  <a:schemeClr val="bg1"/>
                </a:solidFill>
                <a:latin typeface="Microsoft YaHei" charset="-122"/>
                <a:ea typeface="Microsoft YaHei" charset="-122"/>
                <a:cs typeface="Microsoft YaHei" charset="-122"/>
              </a:rPr>
              <a:t>不断开创我国现代</a:t>
            </a:r>
            <a:endParaRPr kumimoji="1" lang="zh-CN" altLang="en-US" sz="2400" b="1" dirty="0">
              <a:solidFill>
                <a:schemeClr val="bg1"/>
              </a:solidFill>
              <a:latin typeface="Microsoft YaHei" charset="-122"/>
              <a:ea typeface="Microsoft YaHei" charset="-122"/>
              <a:cs typeface="Microsoft YaHei" charset="-122"/>
            </a:endParaRPr>
          </a:p>
          <a:p>
            <a:pPr algn="ctr">
              <a:lnSpc>
                <a:spcPct val="150000"/>
              </a:lnSpc>
            </a:pPr>
            <a:r>
              <a:rPr kumimoji="1" lang="zh-CN" altLang="en-US" sz="2400" b="1" dirty="0">
                <a:solidFill>
                  <a:schemeClr val="bg1"/>
                </a:solidFill>
                <a:latin typeface="Microsoft YaHei" charset="-122"/>
                <a:ea typeface="Microsoft YaHei" charset="-122"/>
                <a:cs typeface="Microsoft YaHei" charset="-122"/>
              </a:rPr>
              <a:t>化建设新局面</a:t>
            </a:r>
            <a:endParaRPr kumimoji="1" lang="zh-CN" altLang="en-US" sz="2400" b="1" dirty="0">
              <a:solidFill>
                <a:schemeClr val="bg1"/>
              </a:solidFill>
              <a:latin typeface="Microsoft YaHei" charset="-122"/>
              <a:ea typeface="Microsoft YaHei" charset="-122"/>
              <a:cs typeface="Microsoft YaHei" charset="-122"/>
            </a:endParaRPr>
          </a:p>
        </p:txBody>
      </p:sp>
      <p:sp>
        <p:nvSpPr>
          <p:cNvPr id="12" name="矩形 11"/>
          <p:cNvSpPr/>
          <p:nvPr/>
        </p:nvSpPr>
        <p:spPr>
          <a:xfrm>
            <a:off x="4485227" y="3765198"/>
            <a:ext cx="2494288" cy="2061210"/>
          </a:xfrm>
          <a:prstGeom prst="rect">
            <a:avLst/>
          </a:prstGeom>
        </p:spPr>
        <p:txBody>
          <a:bodyPr wrap="square">
            <a:spAutoFit/>
          </a:bodyPr>
          <a:lstStyle/>
          <a:p>
            <a:pPr algn="ctr"/>
            <a:r>
              <a:rPr kumimoji="1" lang="zh-CN" altLang="en-US" sz="3200" b="1" dirty="0">
                <a:solidFill>
                  <a:schemeClr val="bg1"/>
                </a:solidFill>
                <a:latin typeface="Microsoft YaHei" charset="-122"/>
                <a:ea typeface="Microsoft YaHei" charset="-122"/>
                <a:cs typeface="Microsoft YaHei" charset="-122"/>
              </a:rPr>
              <a:t>全面建设社会主义现代化国家的重要意义</a:t>
            </a:r>
            <a:endParaRPr kumimoji="1" lang="zh-CN" altLang="en-US" sz="3200" b="1" dirty="0">
              <a:solidFill>
                <a:schemeClr val="bg1"/>
              </a:solidFill>
              <a:latin typeface="Microsoft YaHei" charset="-122"/>
              <a:ea typeface="Microsoft YaHei" charset="-122"/>
              <a:cs typeface="Microsoft YaHei" charset="-122"/>
            </a:endParaRPr>
          </a:p>
        </p:txBody>
      </p:sp>
      <p:sp>
        <p:nvSpPr>
          <p:cNvPr id="13" name="矩形 12"/>
          <p:cNvSpPr/>
          <p:nvPr/>
        </p:nvSpPr>
        <p:spPr>
          <a:xfrm>
            <a:off x="2859217" y="-2996898"/>
            <a:ext cx="7147240" cy="100434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4000" b="1" dirty="0" smtClean="0">
                <a:latin typeface="Microsoft YaHei" charset="-122"/>
                <a:ea typeface="Microsoft YaHei" charset="-122"/>
                <a:cs typeface="Microsoft YaHei" charset="-122"/>
              </a:rPr>
              <a:t>学习党史的重要意义</a:t>
            </a:r>
            <a:endParaRPr kumimoji="1" lang="zh-CN" altLang="en-US" sz="4000" b="1" dirty="0">
              <a:latin typeface="Microsoft YaHei" charset="-122"/>
              <a:ea typeface="Microsoft YaHei" charset="-122"/>
              <a:cs typeface="Microsoft YaHei" charset="-122"/>
            </a:endParaRPr>
          </a:p>
        </p:txBody>
      </p:sp>
      <p:grpSp>
        <p:nvGrpSpPr>
          <p:cNvPr id="17" name="组 16"/>
          <p:cNvGrpSpPr/>
          <p:nvPr/>
        </p:nvGrpSpPr>
        <p:grpSpPr>
          <a:xfrm>
            <a:off x="329783" y="163779"/>
            <a:ext cx="4645375" cy="604467"/>
            <a:chOff x="4483635" y="-255945"/>
            <a:chExt cx="4645375" cy="604467"/>
          </a:xfrm>
        </p:grpSpPr>
        <p:pic>
          <p:nvPicPr>
            <p:cNvPr id="18" name="图片 17"/>
            <p:cNvPicPr>
              <a:picLocks noChangeAspect="true"/>
            </p:cNvPicPr>
            <p:nvPr/>
          </p:nvPicPr>
          <p:blipFill>
            <a:blip r:embed="rId1" cstate="screen"/>
            <a:stretch>
              <a:fillRect/>
            </a:stretch>
          </p:blipFill>
          <p:spPr>
            <a:xfrm>
              <a:off x="4483635" y="-255945"/>
              <a:ext cx="583040" cy="604467"/>
            </a:xfrm>
            <a:prstGeom prst="rect">
              <a:avLst/>
            </a:prstGeom>
          </p:spPr>
        </p:pic>
        <p:sp>
          <p:nvSpPr>
            <p:cNvPr id="19" name="矩形 18"/>
            <p:cNvSpPr/>
            <p:nvPr/>
          </p:nvSpPr>
          <p:spPr>
            <a:xfrm>
              <a:off x="5066675" y="-177188"/>
              <a:ext cx="4062335" cy="455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2400" b="1" dirty="0" smtClean="0">
                  <a:solidFill>
                    <a:srgbClr val="C00000"/>
                  </a:solidFill>
                  <a:latin typeface="Microsoft YaHei" charset="-122"/>
                  <a:ea typeface="Microsoft YaHei" charset="-122"/>
                  <a:cs typeface="Microsoft YaHei" charset="-122"/>
                </a:rPr>
                <a:t>全面建设社会主义现代化国家具有重要意义</a:t>
              </a:r>
              <a:endParaRPr kumimoji="1" lang="zh-CN" altLang="en-US" sz="2400" b="1" dirty="0">
                <a:solidFill>
                  <a:srgbClr val="C00000"/>
                </a:solidFill>
                <a:latin typeface="Microsoft YaHei" charset="-122"/>
                <a:ea typeface="Microsoft YaHei" charset="-122"/>
                <a:cs typeface="Microsoft YaHei"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par>
                                <p:cTn id="9" presetID="8" presetClass="emph" presetSubtype="0" fill="hold" nodeType="withEffect">
                                  <p:stCondLst>
                                    <p:cond delay="0"/>
                                  </p:stCondLst>
                                  <p:childTnLst>
                                    <p:animRot by="21600000">
                                      <p:cBhvr>
                                        <p:cTn id="10" dur="500" fill="hold"/>
                                        <p:tgtEl>
                                          <p:spTgt spid="2"/>
                                        </p:tgtEl>
                                        <p:attrNameLst>
                                          <p:attrName>r</p:attrName>
                                        </p:attrNameLst>
                                      </p:cBhvr>
                                    </p:animRo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par>
                                <p:cTn id="15" presetID="2" presetClass="entr" presetSubtype="9"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0-#ppt_w/2"/>
                                          </p:val>
                                        </p:tav>
                                        <p:tav tm="100000">
                                          <p:val>
                                            <p:strVal val="#ppt_x"/>
                                          </p:val>
                                        </p:tav>
                                      </p:tavLst>
                                    </p:anim>
                                    <p:anim calcmode="lin" valueType="num">
                                      <p:cBhvr additive="base">
                                        <p:cTn id="18" dur="500" fill="hold"/>
                                        <p:tgtEl>
                                          <p:spTgt spid="4"/>
                                        </p:tgtEl>
                                        <p:attrNameLst>
                                          <p:attrName>ppt_y</p:attrName>
                                        </p:attrNameLst>
                                      </p:cBhvr>
                                      <p:tavLst>
                                        <p:tav tm="0">
                                          <p:val>
                                            <p:strVal val="0-#ppt_h/2"/>
                                          </p:val>
                                        </p:tav>
                                        <p:tav tm="100000">
                                          <p:val>
                                            <p:strVal val="#ppt_y"/>
                                          </p:val>
                                        </p:tav>
                                      </p:tavLst>
                                    </p:anim>
                                  </p:childTnLst>
                                </p:cTn>
                              </p:par>
                              <p:par>
                                <p:cTn id="19" presetID="2" presetClass="entr" presetSubtype="1"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0-#ppt_h/2"/>
                                          </p:val>
                                        </p:tav>
                                        <p:tav tm="100000">
                                          <p:val>
                                            <p:strVal val="#ppt_y"/>
                                          </p:val>
                                        </p:tav>
                                      </p:tavLst>
                                    </p:anim>
                                  </p:childTnLst>
                                </p:cTn>
                              </p:par>
                              <p:par>
                                <p:cTn id="23" presetID="2" presetClass="entr" presetSubtype="3"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1+#ppt_w/2"/>
                                          </p:val>
                                        </p:tav>
                                        <p:tav tm="100000">
                                          <p:val>
                                            <p:strVal val="#ppt_x"/>
                                          </p:val>
                                        </p:tav>
                                      </p:tavLst>
                                    </p:anim>
                                    <p:anim calcmode="lin" valueType="num">
                                      <p:cBhvr additive="base">
                                        <p:cTn id="26" dur="500" fill="hold"/>
                                        <p:tgtEl>
                                          <p:spTgt spid="8"/>
                                        </p:tgtEl>
                                        <p:attrNameLst>
                                          <p:attrName>ppt_y</p:attrName>
                                        </p:attrNameLst>
                                      </p:cBhvr>
                                      <p:tavLst>
                                        <p:tav tm="0">
                                          <p:val>
                                            <p:strVal val="0-#ppt_h/2"/>
                                          </p:val>
                                        </p:tav>
                                        <p:tav tm="100000">
                                          <p:val>
                                            <p:strVal val="#ppt_y"/>
                                          </p:val>
                                        </p:tav>
                                      </p:tavLst>
                                    </p:anim>
                                  </p:childTnLst>
                                </p:cTn>
                              </p:par>
                            </p:childTnLst>
                          </p:cTn>
                        </p:par>
                        <p:par>
                          <p:cTn id="27" fill="hold">
                            <p:stCondLst>
                              <p:cond delay="1000"/>
                            </p:stCondLst>
                            <p:childTnLst>
                              <p:par>
                                <p:cTn id="28" presetID="10" presetClass="entr" presetSubtype="0" fill="hold" nodeType="after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
                                        <p:tgtEl>
                                          <p:spTgt spid="3"/>
                                        </p:tgtEl>
                                      </p:cBhvr>
                                    </p:animEffect>
                                  </p:childTnLst>
                                </p:cTn>
                              </p:par>
                              <p:par>
                                <p:cTn id="31" presetID="10"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par>
                                <p:cTn id="34" presetID="10" presetClass="entr" presetSubtype="0" fill="hold"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childTnLst>
                          </p:cTn>
                        </p:par>
                        <p:par>
                          <p:cTn id="37" fill="hold">
                            <p:stCondLst>
                              <p:cond delay="1500"/>
                            </p:stCondLst>
                            <p:childTnLst>
                              <p:par>
                                <p:cTn id="38" presetID="38" presetClass="entr" presetSubtype="0" accel="50000" fill="hold" grpId="0" nodeType="afterEffect">
                                  <p:stCondLst>
                                    <p:cond delay="0"/>
                                  </p:stCondLst>
                                  <p:iterate type="lt">
                                    <p:tmPct val="10000"/>
                                  </p:iterate>
                                  <p:childTnLst>
                                    <p:set>
                                      <p:cBhvr>
                                        <p:cTn id="39" dur="1" fill="hold">
                                          <p:stCondLst>
                                            <p:cond delay="0"/>
                                          </p:stCondLst>
                                        </p:cTn>
                                        <p:tgtEl>
                                          <p:spTgt spid="10"/>
                                        </p:tgtEl>
                                        <p:attrNameLst>
                                          <p:attrName>style.visibility</p:attrName>
                                        </p:attrNameLst>
                                      </p:cBhvr>
                                      <p:to>
                                        <p:strVal val="visible"/>
                                      </p:to>
                                    </p:set>
                                    <p:set>
                                      <p:cBhvr>
                                        <p:cTn id="40" dur="455" fill="hold">
                                          <p:stCondLst>
                                            <p:cond delay="0"/>
                                          </p:stCondLst>
                                        </p:cTn>
                                        <p:tgtEl>
                                          <p:spTgt spid="10"/>
                                        </p:tgtEl>
                                        <p:attrNameLst>
                                          <p:attrName>style.rotation</p:attrName>
                                        </p:attrNameLst>
                                      </p:cBhvr>
                                      <p:to>
                                        <p:strVal val="-45.0"/>
                                      </p:to>
                                    </p:set>
                                    <p:anim calcmode="lin" valueType="num">
                                      <p:cBhvr>
                                        <p:cTn id="41" dur="455" fill="hold">
                                          <p:stCondLst>
                                            <p:cond delay="455"/>
                                          </p:stCondLst>
                                        </p:cTn>
                                        <p:tgtEl>
                                          <p:spTgt spid="10"/>
                                        </p:tgtEl>
                                        <p:attrNameLst>
                                          <p:attrName>style.rotation</p:attrName>
                                        </p:attrNameLst>
                                      </p:cBhvr>
                                      <p:tavLst>
                                        <p:tav tm="0">
                                          <p:val>
                                            <p:fltVal val="-45"/>
                                          </p:val>
                                        </p:tav>
                                        <p:tav tm="69900">
                                          <p:val>
                                            <p:fltVal val="45"/>
                                          </p:val>
                                        </p:tav>
                                        <p:tav tm="100000">
                                          <p:val>
                                            <p:fltVal val="0"/>
                                          </p:val>
                                        </p:tav>
                                      </p:tavLst>
                                    </p:anim>
                                    <p:anim calcmode="lin" valueType="num">
                                      <p:cBhvr>
                                        <p:cTn id="42" dur="455" fill="hold">
                                          <p:stCondLst>
                                            <p:cond delay="0"/>
                                          </p:stCondLst>
                                        </p:cTn>
                                        <p:tgtEl>
                                          <p:spTgt spid="10"/>
                                        </p:tgtEl>
                                        <p:attrNameLst>
                                          <p:attrName>ppt_y</p:attrName>
                                        </p:attrNameLst>
                                      </p:cBhvr>
                                      <p:tavLst>
                                        <p:tav tm="0">
                                          <p:val>
                                            <p:strVal val="#ppt_y-1"/>
                                          </p:val>
                                        </p:tav>
                                        <p:tav tm="100000">
                                          <p:val>
                                            <p:strVal val="#ppt_y-(0.354*#ppt_w-0.172*#ppt_h)"/>
                                          </p:val>
                                        </p:tav>
                                      </p:tavLst>
                                    </p:anim>
                                    <p:anim calcmode="lin" valueType="num">
                                      <p:cBhvr>
                                        <p:cTn id="43" dur="156" decel="50000" autoRev="1" fill="hold">
                                          <p:stCondLst>
                                            <p:cond delay="455"/>
                                          </p:stCondLst>
                                        </p:cTn>
                                        <p:tgtEl>
                                          <p:spTgt spid="10"/>
                                        </p:tgtEl>
                                        <p:attrNameLst>
                                          <p:attrName>ppt_y</p:attrName>
                                        </p:attrNameLst>
                                      </p:cBhvr>
                                      <p:tavLst>
                                        <p:tav tm="0">
                                          <p:val>
                                            <p:strVal val="#ppt_y-(0.354*#ppt_w-0.172*#ppt_h)"/>
                                          </p:val>
                                        </p:tav>
                                        <p:tav tm="100000">
                                          <p:val>
                                            <p:strVal val="#ppt_y-(0.354*#ppt_w-0.172*#ppt_h)-#ppt_h/2"/>
                                          </p:val>
                                        </p:tav>
                                      </p:tavLst>
                                    </p:anim>
                                    <p:anim calcmode="lin" valueType="num">
                                      <p:cBhvr>
                                        <p:cTn id="44" dur="136" fill="hold">
                                          <p:stCondLst>
                                            <p:cond delay="864"/>
                                          </p:stCondLst>
                                        </p:cTn>
                                        <p:tgtEl>
                                          <p:spTgt spid="10"/>
                                        </p:tgtEl>
                                        <p:attrNameLst>
                                          <p:attrName>ppt_y</p:attrName>
                                        </p:attrNameLst>
                                      </p:cBhvr>
                                      <p:tavLst>
                                        <p:tav tm="0">
                                          <p:val>
                                            <p:strVal val="#ppt_y-(0.354*#ppt_w-0.172*#ppt_h)"/>
                                          </p:val>
                                        </p:tav>
                                        <p:tav tm="100000">
                                          <p:val>
                                            <p:strVal val="#ppt_y"/>
                                          </p:val>
                                        </p:tav>
                                      </p:tavLst>
                                    </p:anim>
                                  </p:childTnLst>
                                </p:cTn>
                              </p:par>
                              <p:par>
                                <p:cTn id="45" presetID="38" presetClass="entr" presetSubtype="0" accel="50000" fill="hold" grpId="0" nodeType="withEffect">
                                  <p:stCondLst>
                                    <p:cond delay="0"/>
                                  </p:stCondLst>
                                  <p:iterate type="lt">
                                    <p:tmPct val="10000"/>
                                  </p:iterate>
                                  <p:childTnLst>
                                    <p:set>
                                      <p:cBhvr>
                                        <p:cTn id="46" dur="1" fill="hold">
                                          <p:stCondLst>
                                            <p:cond delay="0"/>
                                          </p:stCondLst>
                                        </p:cTn>
                                        <p:tgtEl>
                                          <p:spTgt spid="11"/>
                                        </p:tgtEl>
                                        <p:attrNameLst>
                                          <p:attrName>style.visibility</p:attrName>
                                        </p:attrNameLst>
                                      </p:cBhvr>
                                      <p:to>
                                        <p:strVal val="visible"/>
                                      </p:to>
                                    </p:set>
                                    <p:set>
                                      <p:cBhvr>
                                        <p:cTn id="47" dur="455" fill="hold">
                                          <p:stCondLst>
                                            <p:cond delay="0"/>
                                          </p:stCondLst>
                                        </p:cTn>
                                        <p:tgtEl>
                                          <p:spTgt spid="11"/>
                                        </p:tgtEl>
                                        <p:attrNameLst>
                                          <p:attrName>style.rotation</p:attrName>
                                        </p:attrNameLst>
                                      </p:cBhvr>
                                      <p:to>
                                        <p:strVal val="-45.0"/>
                                      </p:to>
                                    </p:set>
                                    <p:anim calcmode="lin" valueType="num">
                                      <p:cBhvr>
                                        <p:cTn id="48" dur="455" fill="hold">
                                          <p:stCondLst>
                                            <p:cond delay="455"/>
                                          </p:stCondLst>
                                        </p:cTn>
                                        <p:tgtEl>
                                          <p:spTgt spid="11"/>
                                        </p:tgtEl>
                                        <p:attrNameLst>
                                          <p:attrName>style.rotation</p:attrName>
                                        </p:attrNameLst>
                                      </p:cBhvr>
                                      <p:tavLst>
                                        <p:tav tm="0">
                                          <p:val>
                                            <p:fltVal val="-45"/>
                                          </p:val>
                                        </p:tav>
                                        <p:tav tm="69900">
                                          <p:val>
                                            <p:fltVal val="45"/>
                                          </p:val>
                                        </p:tav>
                                        <p:tav tm="100000">
                                          <p:val>
                                            <p:fltVal val="0"/>
                                          </p:val>
                                        </p:tav>
                                      </p:tavLst>
                                    </p:anim>
                                    <p:anim calcmode="lin" valueType="num">
                                      <p:cBhvr>
                                        <p:cTn id="49" dur="455" fill="hold">
                                          <p:stCondLst>
                                            <p:cond delay="0"/>
                                          </p:stCondLst>
                                        </p:cTn>
                                        <p:tgtEl>
                                          <p:spTgt spid="11"/>
                                        </p:tgtEl>
                                        <p:attrNameLst>
                                          <p:attrName>ppt_y</p:attrName>
                                        </p:attrNameLst>
                                      </p:cBhvr>
                                      <p:tavLst>
                                        <p:tav tm="0">
                                          <p:val>
                                            <p:strVal val="#ppt_y-1"/>
                                          </p:val>
                                        </p:tav>
                                        <p:tav tm="100000">
                                          <p:val>
                                            <p:strVal val="#ppt_y-(0.354*#ppt_w-0.172*#ppt_h)"/>
                                          </p:val>
                                        </p:tav>
                                      </p:tavLst>
                                    </p:anim>
                                    <p:anim calcmode="lin" valueType="num">
                                      <p:cBhvr>
                                        <p:cTn id="50" dur="156" decel="50000" autoRev="1" fill="hold">
                                          <p:stCondLst>
                                            <p:cond delay="455"/>
                                          </p:stCondLst>
                                        </p:cTn>
                                        <p:tgtEl>
                                          <p:spTgt spid="11"/>
                                        </p:tgtEl>
                                        <p:attrNameLst>
                                          <p:attrName>ppt_y</p:attrName>
                                        </p:attrNameLst>
                                      </p:cBhvr>
                                      <p:tavLst>
                                        <p:tav tm="0">
                                          <p:val>
                                            <p:strVal val="#ppt_y-(0.354*#ppt_w-0.172*#ppt_h)"/>
                                          </p:val>
                                        </p:tav>
                                        <p:tav tm="100000">
                                          <p:val>
                                            <p:strVal val="#ppt_y-(0.354*#ppt_w-0.172*#ppt_h)-#ppt_h/2"/>
                                          </p:val>
                                        </p:tav>
                                      </p:tavLst>
                                    </p:anim>
                                    <p:anim calcmode="lin" valueType="num">
                                      <p:cBhvr>
                                        <p:cTn id="51" dur="136" fill="hold">
                                          <p:stCondLst>
                                            <p:cond delay="864"/>
                                          </p:stCondLst>
                                        </p:cTn>
                                        <p:tgtEl>
                                          <p:spTgt spid="11"/>
                                        </p:tgtEl>
                                        <p:attrNameLst>
                                          <p:attrName>ppt_y</p:attrName>
                                        </p:attrNameLst>
                                      </p:cBhvr>
                                      <p:tavLst>
                                        <p:tav tm="0">
                                          <p:val>
                                            <p:strVal val="#ppt_y-(0.354*#ppt_w-0.172*#ppt_h)"/>
                                          </p:val>
                                        </p:tav>
                                        <p:tav tm="100000">
                                          <p:val>
                                            <p:strVal val="#ppt_y"/>
                                          </p:val>
                                        </p:tav>
                                      </p:tavLst>
                                    </p:anim>
                                  </p:childTnLst>
                                </p:cTn>
                              </p:par>
                              <p:par>
                                <p:cTn id="52" presetID="38" presetClass="entr" presetSubtype="0" accel="50000" fill="hold" grpId="0" nodeType="withEffect">
                                  <p:stCondLst>
                                    <p:cond delay="0"/>
                                  </p:stCondLst>
                                  <p:iterate type="lt">
                                    <p:tmPct val="10000"/>
                                  </p:iterate>
                                  <p:childTnLst>
                                    <p:set>
                                      <p:cBhvr>
                                        <p:cTn id="53" dur="1" fill="hold">
                                          <p:stCondLst>
                                            <p:cond delay="0"/>
                                          </p:stCondLst>
                                        </p:cTn>
                                        <p:tgtEl>
                                          <p:spTgt spid="9"/>
                                        </p:tgtEl>
                                        <p:attrNameLst>
                                          <p:attrName>style.visibility</p:attrName>
                                        </p:attrNameLst>
                                      </p:cBhvr>
                                      <p:to>
                                        <p:strVal val="visible"/>
                                      </p:to>
                                    </p:set>
                                    <p:set>
                                      <p:cBhvr>
                                        <p:cTn id="54" dur="455" fill="hold">
                                          <p:stCondLst>
                                            <p:cond delay="0"/>
                                          </p:stCondLst>
                                        </p:cTn>
                                        <p:tgtEl>
                                          <p:spTgt spid="9"/>
                                        </p:tgtEl>
                                        <p:attrNameLst>
                                          <p:attrName>style.rotation</p:attrName>
                                        </p:attrNameLst>
                                      </p:cBhvr>
                                      <p:to>
                                        <p:strVal val="-45.0"/>
                                      </p:to>
                                    </p:set>
                                    <p:anim calcmode="lin" valueType="num">
                                      <p:cBhvr>
                                        <p:cTn id="55" dur="455" fill="hold">
                                          <p:stCondLst>
                                            <p:cond delay="455"/>
                                          </p:stCondLst>
                                        </p:cTn>
                                        <p:tgtEl>
                                          <p:spTgt spid="9"/>
                                        </p:tgtEl>
                                        <p:attrNameLst>
                                          <p:attrName>style.rotation</p:attrName>
                                        </p:attrNameLst>
                                      </p:cBhvr>
                                      <p:tavLst>
                                        <p:tav tm="0">
                                          <p:val>
                                            <p:fltVal val="-45"/>
                                          </p:val>
                                        </p:tav>
                                        <p:tav tm="69900">
                                          <p:val>
                                            <p:fltVal val="45"/>
                                          </p:val>
                                        </p:tav>
                                        <p:tav tm="100000">
                                          <p:val>
                                            <p:fltVal val="0"/>
                                          </p:val>
                                        </p:tav>
                                      </p:tavLst>
                                    </p:anim>
                                    <p:anim calcmode="lin" valueType="num">
                                      <p:cBhvr>
                                        <p:cTn id="56" dur="455" fill="hold">
                                          <p:stCondLst>
                                            <p:cond delay="0"/>
                                          </p:stCondLst>
                                        </p:cTn>
                                        <p:tgtEl>
                                          <p:spTgt spid="9"/>
                                        </p:tgtEl>
                                        <p:attrNameLst>
                                          <p:attrName>ppt_y</p:attrName>
                                        </p:attrNameLst>
                                      </p:cBhvr>
                                      <p:tavLst>
                                        <p:tav tm="0">
                                          <p:val>
                                            <p:strVal val="#ppt_y-1"/>
                                          </p:val>
                                        </p:tav>
                                        <p:tav tm="100000">
                                          <p:val>
                                            <p:strVal val="#ppt_y-(0.354*#ppt_w-0.172*#ppt_h)"/>
                                          </p:val>
                                        </p:tav>
                                      </p:tavLst>
                                    </p:anim>
                                    <p:anim calcmode="lin" valueType="num">
                                      <p:cBhvr>
                                        <p:cTn id="57" dur="156" decel="50000" autoRev="1" fill="hold">
                                          <p:stCondLst>
                                            <p:cond delay="455"/>
                                          </p:stCondLst>
                                        </p:cTn>
                                        <p:tgtEl>
                                          <p:spTgt spid="9"/>
                                        </p:tgtEl>
                                        <p:attrNameLst>
                                          <p:attrName>ppt_y</p:attrName>
                                        </p:attrNameLst>
                                      </p:cBhvr>
                                      <p:tavLst>
                                        <p:tav tm="0">
                                          <p:val>
                                            <p:strVal val="#ppt_y-(0.354*#ppt_w-0.172*#ppt_h)"/>
                                          </p:val>
                                        </p:tav>
                                        <p:tav tm="100000">
                                          <p:val>
                                            <p:strVal val="#ppt_y-(0.354*#ppt_w-0.172*#ppt_h)-#ppt_h/2"/>
                                          </p:val>
                                        </p:tav>
                                      </p:tavLst>
                                    </p:anim>
                                    <p:anim calcmode="lin" valueType="num">
                                      <p:cBhvr>
                                        <p:cTn id="58" dur="136" fill="hold">
                                          <p:stCondLst>
                                            <p:cond delay="864"/>
                                          </p:stCondLst>
                                        </p:cTn>
                                        <p:tgtEl>
                                          <p:spTgt spid="9"/>
                                        </p:tgtEl>
                                        <p:attrNameLst>
                                          <p:attrName>ppt_y</p:attrName>
                                        </p:attrNameLst>
                                      </p:cBhvr>
                                      <p:tavLst>
                                        <p:tav tm="0">
                                          <p:val>
                                            <p:strVal val="#ppt_y-(0.354*#ppt_w-0.172*#ppt_h)"/>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2"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anim calcmode="lin" valueType="num">
                                      <p:cBhvr additive="base">
                                        <p:cTn id="63" dur="500" fill="hold"/>
                                        <p:tgtEl>
                                          <p:spTgt spid="13"/>
                                        </p:tgtEl>
                                        <p:attrNameLst>
                                          <p:attrName>ppt_x</p:attrName>
                                        </p:attrNameLst>
                                      </p:cBhvr>
                                      <p:tavLst>
                                        <p:tav tm="0">
                                          <p:val>
                                            <p:strVal val="1+#ppt_w/2"/>
                                          </p:val>
                                        </p:tav>
                                        <p:tav tm="100000">
                                          <p:val>
                                            <p:strVal val="#ppt_x"/>
                                          </p:val>
                                        </p:tav>
                                      </p:tavLst>
                                    </p:anim>
                                    <p:anim calcmode="lin" valueType="num">
                                      <p:cBhvr additive="base">
                                        <p:cTn id="64"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animBg="tru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3"/>
          <p:cNvGrpSpPr/>
          <p:nvPr/>
        </p:nvGrpSpPr>
        <p:grpSpPr>
          <a:xfrm>
            <a:off x="969238" y="1881626"/>
            <a:ext cx="3101811" cy="1925875"/>
            <a:chOff x="4877086" y="1002142"/>
            <a:chExt cx="2437824" cy="1513614"/>
          </a:xfrm>
        </p:grpSpPr>
        <p:grpSp>
          <p:nvGrpSpPr>
            <p:cNvPr id="3" name="组合 18"/>
            <p:cNvGrpSpPr/>
            <p:nvPr/>
          </p:nvGrpSpPr>
          <p:grpSpPr>
            <a:xfrm>
              <a:off x="4877086" y="1002142"/>
              <a:ext cx="2437824" cy="1513614"/>
              <a:chOff x="749490" y="1780093"/>
              <a:chExt cx="4179592" cy="2595056"/>
            </a:xfrm>
            <a:solidFill>
              <a:srgbClr val="C00000"/>
            </a:solidFill>
          </p:grpSpPr>
          <p:sp>
            <p:nvSpPr>
              <p:cNvPr id="5" name="Freeform 5"/>
              <p:cNvSpPr/>
              <p:nvPr/>
            </p:nvSpPr>
            <p:spPr bwMode="auto">
              <a:xfrm rot="391565">
                <a:off x="847620" y="1780093"/>
                <a:ext cx="4081462" cy="2565399"/>
              </a:xfrm>
              <a:custGeom>
                <a:avLst/>
                <a:gdLst>
                  <a:gd name="T0" fmla="*/ 14 w 321"/>
                  <a:gd name="T1" fmla="*/ 31 h 201"/>
                  <a:gd name="T2" fmla="*/ 90 w 321"/>
                  <a:gd name="T3" fmla="*/ 2 h 201"/>
                  <a:gd name="T4" fmla="*/ 163 w 321"/>
                  <a:gd name="T5" fmla="*/ 21 h 201"/>
                  <a:gd name="T6" fmla="*/ 277 w 321"/>
                  <a:gd name="T7" fmla="*/ 26 h 201"/>
                  <a:gd name="T8" fmla="*/ 284 w 321"/>
                  <a:gd name="T9" fmla="*/ 118 h 201"/>
                  <a:gd name="T10" fmla="*/ 321 w 321"/>
                  <a:gd name="T11" fmla="*/ 178 h 201"/>
                  <a:gd name="T12" fmla="*/ 210 w 321"/>
                  <a:gd name="T13" fmla="*/ 185 h 201"/>
                  <a:gd name="T14" fmla="*/ 73 w 321"/>
                  <a:gd name="T15" fmla="*/ 189 h 201"/>
                  <a:gd name="T16" fmla="*/ 12 w 321"/>
                  <a:gd name="T17" fmla="*/ 32 h 201"/>
                  <a:gd name="T18" fmla="*/ 2 w 321"/>
                  <a:gd name="T19" fmla="*/ 19 h 201"/>
                  <a:gd name="T20" fmla="*/ 0 w 321"/>
                  <a:gd name="T21" fmla="*/ 0 h 201"/>
                  <a:gd name="T22" fmla="*/ 12 w 321"/>
                  <a:gd name="T23" fmla="*/ 15 h 201"/>
                  <a:gd name="T24" fmla="*/ 14 w 321"/>
                  <a:gd name="T25" fmla="*/ 31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1" h="201">
                    <a:moveTo>
                      <a:pt x="14" y="31"/>
                    </a:moveTo>
                    <a:cubicBezTo>
                      <a:pt x="14" y="31"/>
                      <a:pt x="41" y="6"/>
                      <a:pt x="90" y="2"/>
                    </a:cubicBezTo>
                    <a:cubicBezTo>
                      <a:pt x="90" y="2"/>
                      <a:pt x="132" y="0"/>
                      <a:pt x="163" y="21"/>
                    </a:cubicBezTo>
                    <a:cubicBezTo>
                      <a:pt x="163" y="21"/>
                      <a:pt x="224" y="60"/>
                      <a:pt x="277" y="26"/>
                    </a:cubicBezTo>
                    <a:cubicBezTo>
                      <a:pt x="277" y="26"/>
                      <a:pt x="265" y="56"/>
                      <a:pt x="284" y="118"/>
                    </a:cubicBezTo>
                    <a:cubicBezTo>
                      <a:pt x="284" y="118"/>
                      <a:pt x="295" y="163"/>
                      <a:pt x="321" y="178"/>
                    </a:cubicBezTo>
                    <a:cubicBezTo>
                      <a:pt x="321" y="178"/>
                      <a:pt x="266" y="201"/>
                      <a:pt x="210" y="185"/>
                    </a:cubicBezTo>
                    <a:cubicBezTo>
                      <a:pt x="210" y="185"/>
                      <a:pt x="134" y="161"/>
                      <a:pt x="73" y="189"/>
                    </a:cubicBezTo>
                    <a:lnTo>
                      <a:pt x="12" y="32"/>
                    </a:lnTo>
                    <a:lnTo>
                      <a:pt x="2" y="19"/>
                    </a:lnTo>
                    <a:lnTo>
                      <a:pt x="0" y="0"/>
                    </a:lnTo>
                    <a:lnTo>
                      <a:pt x="12" y="15"/>
                    </a:lnTo>
                    <a:lnTo>
                      <a:pt x="14" y="31"/>
                    </a:lnTo>
                    <a:close/>
                  </a:path>
                </a:pathLst>
              </a:custGeom>
              <a:grpFill/>
              <a:ln w="12700" cap="flat">
                <a:noFill/>
                <a:prstDash val="solid"/>
                <a:miter lim="800000"/>
              </a:ln>
            </p:spPr>
            <p:txBody>
              <a:bodyPr vert="horz" wrap="square" lIns="91440" tIns="45720" rIns="91440" bIns="45720" numCol="1" anchor="t" anchorCtr="false" compatLnSpc="true"/>
              <a:lstStyle/>
              <a:p>
                <a:endParaRPr lang="zh-CN" altLang="en-US" dirty="0"/>
              </a:p>
            </p:txBody>
          </p:sp>
          <p:sp>
            <p:nvSpPr>
              <p:cNvPr id="6" name="Freeform 5"/>
              <p:cNvSpPr/>
              <p:nvPr/>
            </p:nvSpPr>
            <p:spPr bwMode="auto">
              <a:xfrm rot="208630">
                <a:off x="749490" y="1802892"/>
                <a:ext cx="4081462" cy="2565399"/>
              </a:xfrm>
              <a:custGeom>
                <a:avLst/>
                <a:gdLst>
                  <a:gd name="T0" fmla="*/ 14 w 321"/>
                  <a:gd name="T1" fmla="*/ 31 h 201"/>
                  <a:gd name="T2" fmla="*/ 90 w 321"/>
                  <a:gd name="T3" fmla="*/ 2 h 201"/>
                  <a:gd name="T4" fmla="*/ 163 w 321"/>
                  <a:gd name="T5" fmla="*/ 21 h 201"/>
                  <a:gd name="T6" fmla="*/ 277 w 321"/>
                  <a:gd name="T7" fmla="*/ 26 h 201"/>
                  <a:gd name="T8" fmla="*/ 284 w 321"/>
                  <a:gd name="T9" fmla="*/ 118 h 201"/>
                  <a:gd name="T10" fmla="*/ 321 w 321"/>
                  <a:gd name="T11" fmla="*/ 178 h 201"/>
                  <a:gd name="T12" fmla="*/ 210 w 321"/>
                  <a:gd name="T13" fmla="*/ 185 h 201"/>
                  <a:gd name="T14" fmla="*/ 73 w 321"/>
                  <a:gd name="T15" fmla="*/ 189 h 201"/>
                  <a:gd name="T16" fmla="*/ 12 w 321"/>
                  <a:gd name="T17" fmla="*/ 32 h 201"/>
                  <a:gd name="T18" fmla="*/ 2 w 321"/>
                  <a:gd name="T19" fmla="*/ 19 h 201"/>
                  <a:gd name="T20" fmla="*/ 0 w 321"/>
                  <a:gd name="T21" fmla="*/ 0 h 201"/>
                  <a:gd name="T22" fmla="*/ 12 w 321"/>
                  <a:gd name="T23" fmla="*/ 15 h 201"/>
                  <a:gd name="T24" fmla="*/ 14 w 321"/>
                  <a:gd name="T25" fmla="*/ 31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1" h="201">
                    <a:moveTo>
                      <a:pt x="14" y="31"/>
                    </a:moveTo>
                    <a:cubicBezTo>
                      <a:pt x="14" y="31"/>
                      <a:pt x="41" y="6"/>
                      <a:pt x="90" y="2"/>
                    </a:cubicBezTo>
                    <a:cubicBezTo>
                      <a:pt x="90" y="2"/>
                      <a:pt x="132" y="0"/>
                      <a:pt x="163" y="21"/>
                    </a:cubicBezTo>
                    <a:cubicBezTo>
                      <a:pt x="163" y="21"/>
                      <a:pt x="224" y="60"/>
                      <a:pt x="277" y="26"/>
                    </a:cubicBezTo>
                    <a:cubicBezTo>
                      <a:pt x="277" y="26"/>
                      <a:pt x="265" y="56"/>
                      <a:pt x="284" y="118"/>
                    </a:cubicBezTo>
                    <a:cubicBezTo>
                      <a:pt x="284" y="118"/>
                      <a:pt x="295" y="163"/>
                      <a:pt x="321" y="178"/>
                    </a:cubicBezTo>
                    <a:cubicBezTo>
                      <a:pt x="321" y="178"/>
                      <a:pt x="266" y="201"/>
                      <a:pt x="210" y="185"/>
                    </a:cubicBezTo>
                    <a:cubicBezTo>
                      <a:pt x="210" y="185"/>
                      <a:pt x="134" y="161"/>
                      <a:pt x="73" y="189"/>
                    </a:cubicBezTo>
                    <a:lnTo>
                      <a:pt x="12" y="32"/>
                    </a:lnTo>
                    <a:lnTo>
                      <a:pt x="2" y="19"/>
                    </a:lnTo>
                    <a:lnTo>
                      <a:pt x="0" y="0"/>
                    </a:lnTo>
                    <a:lnTo>
                      <a:pt x="12" y="15"/>
                    </a:lnTo>
                    <a:lnTo>
                      <a:pt x="14" y="31"/>
                    </a:lnTo>
                    <a:close/>
                  </a:path>
                </a:pathLst>
              </a:custGeom>
              <a:grpFill/>
              <a:ln w="12700" cap="flat">
                <a:noFill/>
                <a:prstDash val="solid"/>
                <a:miter lim="800000"/>
              </a:ln>
            </p:spPr>
            <p:txBody>
              <a:bodyPr vert="horz" wrap="square" lIns="91440" tIns="45720" rIns="91440" bIns="45720" numCol="1" anchor="t" anchorCtr="false" compatLnSpc="true"/>
              <a:lstStyle/>
              <a:p>
                <a:endParaRPr lang="zh-CN" altLang="en-US" dirty="0"/>
              </a:p>
            </p:txBody>
          </p:sp>
          <p:sp>
            <p:nvSpPr>
              <p:cNvPr id="7" name="Freeform 5"/>
              <p:cNvSpPr/>
              <p:nvPr/>
            </p:nvSpPr>
            <p:spPr bwMode="auto">
              <a:xfrm rot="21425701">
                <a:off x="798853" y="1809750"/>
                <a:ext cx="4081462" cy="2565399"/>
              </a:xfrm>
              <a:custGeom>
                <a:avLst/>
                <a:gdLst>
                  <a:gd name="T0" fmla="*/ 14 w 321"/>
                  <a:gd name="T1" fmla="*/ 31 h 201"/>
                  <a:gd name="T2" fmla="*/ 90 w 321"/>
                  <a:gd name="T3" fmla="*/ 2 h 201"/>
                  <a:gd name="T4" fmla="*/ 163 w 321"/>
                  <a:gd name="T5" fmla="*/ 21 h 201"/>
                  <a:gd name="T6" fmla="*/ 277 w 321"/>
                  <a:gd name="T7" fmla="*/ 26 h 201"/>
                  <a:gd name="T8" fmla="*/ 284 w 321"/>
                  <a:gd name="T9" fmla="*/ 118 h 201"/>
                  <a:gd name="T10" fmla="*/ 321 w 321"/>
                  <a:gd name="T11" fmla="*/ 178 h 201"/>
                  <a:gd name="T12" fmla="*/ 210 w 321"/>
                  <a:gd name="T13" fmla="*/ 185 h 201"/>
                  <a:gd name="T14" fmla="*/ 73 w 321"/>
                  <a:gd name="T15" fmla="*/ 189 h 201"/>
                  <a:gd name="T16" fmla="*/ 12 w 321"/>
                  <a:gd name="T17" fmla="*/ 32 h 201"/>
                  <a:gd name="T18" fmla="*/ 2 w 321"/>
                  <a:gd name="T19" fmla="*/ 19 h 201"/>
                  <a:gd name="T20" fmla="*/ 0 w 321"/>
                  <a:gd name="T21" fmla="*/ 0 h 201"/>
                  <a:gd name="T22" fmla="*/ 12 w 321"/>
                  <a:gd name="T23" fmla="*/ 15 h 201"/>
                  <a:gd name="T24" fmla="*/ 14 w 321"/>
                  <a:gd name="T25" fmla="*/ 31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1" h="201">
                    <a:moveTo>
                      <a:pt x="14" y="31"/>
                    </a:moveTo>
                    <a:cubicBezTo>
                      <a:pt x="14" y="31"/>
                      <a:pt x="41" y="6"/>
                      <a:pt x="90" y="2"/>
                    </a:cubicBezTo>
                    <a:cubicBezTo>
                      <a:pt x="90" y="2"/>
                      <a:pt x="132" y="0"/>
                      <a:pt x="163" y="21"/>
                    </a:cubicBezTo>
                    <a:cubicBezTo>
                      <a:pt x="163" y="21"/>
                      <a:pt x="224" y="60"/>
                      <a:pt x="277" y="26"/>
                    </a:cubicBezTo>
                    <a:cubicBezTo>
                      <a:pt x="277" y="26"/>
                      <a:pt x="265" y="56"/>
                      <a:pt x="284" y="118"/>
                    </a:cubicBezTo>
                    <a:cubicBezTo>
                      <a:pt x="284" y="118"/>
                      <a:pt x="295" y="163"/>
                      <a:pt x="321" y="178"/>
                    </a:cubicBezTo>
                    <a:cubicBezTo>
                      <a:pt x="321" y="178"/>
                      <a:pt x="266" y="201"/>
                      <a:pt x="210" y="185"/>
                    </a:cubicBezTo>
                    <a:cubicBezTo>
                      <a:pt x="210" y="185"/>
                      <a:pt x="134" y="161"/>
                      <a:pt x="73" y="189"/>
                    </a:cubicBezTo>
                    <a:lnTo>
                      <a:pt x="12" y="32"/>
                    </a:lnTo>
                    <a:lnTo>
                      <a:pt x="2" y="19"/>
                    </a:lnTo>
                    <a:lnTo>
                      <a:pt x="0" y="0"/>
                    </a:lnTo>
                    <a:lnTo>
                      <a:pt x="12" y="15"/>
                    </a:lnTo>
                    <a:lnTo>
                      <a:pt x="14" y="31"/>
                    </a:lnTo>
                    <a:close/>
                  </a:path>
                </a:pathLst>
              </a:custGeom>
              <a:grpFill/>
              <a:ln w="12700" cap="flat">
                <a:noFill/>
                <a:prstDash val="solid"/>
                <a:miter lim="800000"/>
              </a:ln>
            </p:spPr>
            <p:txBody>
              <a:bodyPr vert="horz" wrap="square" lIns="91440" tIns="45720" rIns="91440" bIns="45720" numCol="1" anchor="t" anchorCtr="false" compatLnSpc="true"/>
              <a:lstStyle/>
              <a:p>
                <a:endParaRPr lang="zh-CN" altLang="en-US" dirty="0"/>
              </a:p>
            </p:txBody>
          </p:sp>
        </p:grpSp>
        <p:sp>
          <p:nvSpPr>
            <p:cNvPr id="4" name="文本框 3"/>
            <p:cNvSpPr txBox="true"/>
            <p:nvPr/>
          </p:nvSpPr>
          <p:spPr>
            <a:xfrm>
              <a:off x="5700519" y="1433022"/>
              <a:ext cx="1175893" cy="725678"/>
            </a:xfrm>
            <a:prstGeom prst="rect">
              <a:avLst/>
            </a:prstGeom>
            <a:noFill/>
          </p:spPr>
          <p:txBody>
            <a:bodyPr wrap="square" rtlCol="0">
              <a:spAutoFit/>
            </a:bodyPr>
            <a:lstStyle/>
            <a:p>
              <a:r>
                <a:rPr lang="en-US" altLang="zh-CN" sz="5400" i="1" dirty="0" smtClean="0">
                  <a:solidFill>
                    <a:schemeClr val="bg1"/>
                  </a:solidFill>
                  <a:latin typeface="Avenir Medium Oblique" charset="0"/>
                  <a:ea typeface="Avenir Medium Oblique" charset="0"/>
                  <a:cs typeface="Avenir Medium Oblique" charset="0"/>
                </a:rPr>
                <a:t>02</a:t>
              </a:r>
              <a:endParaRPr lang="zh-CN" altLang="en-US" sz="5400" i="1" dirty="0">
                <a:solidFill>
                  <a:schemeClr val="bg1"/>
                </a:solidFill>
                <a:latin typeface="Avenir Medium Oblique" charset="0"/>
                <a:ea typeface="Avenir Medium Oblique" charset="0"/>
                <a:cs typeface="Avenir Medium Oblique" charset="0"/>
              </a:endParaRPr>
            </a:p>
          </p:txBody>
        </p:sp>
      </p:grpSp>
      <p:pic>
        <p:nvPicPr>
          <p:cNvPr id="8" name="图片 7"/>
          <p:cNvPicPr>
            <a:picLocks noChangeAspect="true"/>
          </p:cNvPicPr>
          <p:nvPr/>
        </p:nvPicPr>
        <p:blipFill>
          <a:blip r:embed="rId1" cstate="screen"/>
          <a:stretch>
            <a:fillRect/>
          </a:stretch>
        </p:blipFill>
        <p:spPr>
          <a:xfrm>
            <a:off x="4198822" y="724097"/>
            <a:ext cx="1604134" cy="1663087"/>
          </a:xfrm>
          <a:prstGeom prst="rect">
            <a:avLst/>
          </a:prstGeom>
        </p:spPr>
      </p:pic>
      <p:sp>
        <p:nvSpPr>
          <p:cNvPr id="9" name="矩形 8"/>
          <p:cNvSpPr/>
          <p:nvPr/>
        </p:nvSpPr>
        <p:spPr>
          <a:xfrm>
            <a:off x="4081347" y="2430364"/>
            <a:ext cx="5334922" cy="15642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4400" b="1" dirty="0">
                <a:solidFill>
                  <a:srgbClr val="C00000"/>
                </a:solidFill>
                <a:latin typeface="Microsoft YaHei" charset="-122"/>
                <a:ea typeface="Microsoft YaHei" charset="-122"/>
                <a:cs typeface="Microsoft YaHei" charset="-122"/>
              </a:rPr>
              <a:t>全面深化改革</a:t>
            </a:r>
            <a:endParaRPr kumimoji="1" lang="zh-CN" altLang="en-US" sz="4400" b="1" dirty="0">
              <a:solidFill>
                <a:srgbClr val="C00000"/>
              </a:solidFill>
              <a:latin typeface="Microsoft YaHei" charset="-122"/>
              <a:ea typeface="Microsoft YaHei" charset="-122"/>
              <a:cs typeface="Microsoft YaHei"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ppt_w</p:attrName>
                                        </p:attrNameLst>
                                      </p:cBhvr>
                                      <p:tavLst>
                                        <p:tav tm="0">
                                          <p:val>
                                            <p:fltVal val="0"/>
                                          </p:val>
                                        </p:tav>
                                        <p:tav tm="100000">
                                          <p:val>
                                            <p:strVal val="#ppt_w"/>
                                          </p:val>
                                        </p:tav>
                                      </p:tavLst>
                                    </p:anim>
                                    <p:anim calcmode="lin" valueType="num">
                                      <p:cBhvr>
                                        <p:cTn id="16" dur="500" fill="hold"/>
                                        <p:tgtEl>
                                          <p:spTgt spid="8"/>
                                        </p:tgtEl>
                                        <p:attrNameLst>
                                          <p:attrName>ppt_h</p:attrName>
                                        </p:attrNameLst>
                                      </p:cBhvr>
                                      <p:tavLst>
                                        <p:tav tm="0">
                                          <p:val>
                                            <p:fltVal val="0"/>
                                          </p:val>
                                        </p:tav>
                                        <p:tav tm="100000">
                                          <p:val>
                                            <p:strVal val="#ppt_h"/>
                                          </p:val>
                                        </p:tav>
                                      </p:tavLst>
                                    </p:anim>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checkerboard(across)">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true"/>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 1"/>
          <p:cNvGrpSpPr/>
          <p:nvPr/>
        </p:nvGrpSpPr>
        <p:grpSpPr>
          <a:xfrm>
            <a:off x="329783" y="308873"/>
            <a:ext cx="4645375" cy="604467"/>
            <a:chOff x="4483635" y="-255945"/>
            <a:chExt cx="4645375" cy="604467"/>
          </a:xfrm>
        </p:grpSpPr>
        <p:pic>
          <p:nvPicPr>
            <p:cNvPr id="3" name="图片 2"/>
            <p:cNvPicPr>
              <a:picLocks noChangeAspect="true"/>
            </p:cNvPicPr>
            <p:nvPr/>
          </p:nvPicPr>
          <p:blipFill>
            <a:blip r:embed="rId1" cstate="screen"/>
            <a:stretch>
              <a:fillRect/>
            </a:stretch>
          </p:blipFill>
          <p:spPr>
            <a:xfrm>
              <a:off x="4483635" y="-255945"/>
              <a:ext cx="583040" cy="604467"/>
            </a:xfrm>
            <a:prstGeom prst="rect">
              <a:avLst/>
            </a:prstGeom>
          </p:spPr>
        </p:pic>
        <p:sp>
          <p:nvSpPr>
            <p:cNvPr id="4" name="矩形 3"/>
            <p:cNvSpPr/>
            <p:nvPr/>
          </p:nvSpPr>
          <p:spPr>
            <a:xfrm>
              <a:off x="5066675" y="-177188"/>
              <a:ext cx="4062335" cy="455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2400" b="1" dirty="0">
                  <a:solidFill>
                    <a:srgbClr val="C00000"/>
                  </a:solidFill>
                  <a:latin typeface="Microsoft YaHei" charset="-122"/>
                  <a:ea typeface="Microsoft YaHei" charset="-122"/>
                  <a:cs typeface="Microsoft YaHei" charset="-122"/>
                </a:rPr>
                <a:t>全面深化改革</a:t>
              </a:r>
              <a:endParaRPr kumimoji="1" lang="zh-CN" altLang="en-US" sz="2400" b="1" dirty="0">
                <a:solidFill>
                  <a:srgbClr val="C00000"/>
                </a:solidFill>
                <a:latin typeface="Microsoft YaHei" charset="-122"/>
                <a:ea typeface="Microsoft YaHei" charset="-122"/>
                <a:cs typeface="Microsoft YaHei" charset="-122"/>
              </a:endParaRPr>
            </a:p>
          </p:txBody>
        </p:sp>
      </p:grpSp>
      <p:sp>
        <p:nvSpPr>
          <p:cNvPr id="9" name="圆角矩形 8"/>
          <p:cNvSpPr/>
          <p:nvPr/>
        </p:nvSpPr>
        <p:spPr>
          <a:xfrm>
            <a:off x="4257208" y="1184222"/>
            <a:ext cx="7530954" cy="4002375"/>
          </a:xfrm>
          <a:prstGeom prst="roundRect">
            <a:avLst/>
          </a:prstGeom>
          <a:noFill/>
          <a:ln>
            <a:solidFill>
              <a:srgbClr val="C0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文本框 9"/>
          <p:cNvSpPr txBox="true"/>
          <p:nvPr/>
        </p:nvSpPr>
        <p:spPr>
          <a:xfrm>
            <a:off x="4486375" y="1184325"/>
            <a:ext cx="7210266" cy="737235"/>
          </a:xfrm>
          <a:prstGeom prst="rect">
            <a:avLst/>
          </a:prstGeom>
          <a:noFill/>
        </p:spPr>
        <p:txBody>
          <a:bodyPr wrap="square" rtlCol="0">
            <a:spAutoFit/>
          </a:bodyPr>
          <a:lstStyle/>
          <a:p>
            <a:pPr>
              <a:lnSpc>
                <a:spcPct val="150000"/>
              </a:lnSpc>
            </a:pPr>
            <a:r>
              <a:rPr kumimoji="1" lang="zh-CN" altLang="en-US" sz="2800" b="1" dirty="0" smtClean="0">
                <a:solidFill>
                  <a:srgbClr val="C00000"/>
                </a:solidFill>
                <a:latin typeface="Microsoft YaHei" charset="-122"/>
                <a:ea typeface="Microsoft YaHei" charset="-122"/>
                <a:cs typeface="Microsoft YaHei" charset="-122"/>
              </a:rPr>
              <a:t>全面深化改革的提出</a:t>
            </a:r>
            <a:endParaRPr kumimoji="1" lang="en-US" altLang="zh-CN" sz="2800" b="1" dirty="0" smtClean="0">
              <a:solidFill>
                <a:srgbClr val="C00000"/>
              </a:solidFill>
              <a:latin typeface="Microsoft YaHei" charset="-122"/>
              <a:ea typeface="Microsoft YaHei" charset="-122"/>
              <a:cs typeface="Microsoft YaHei" charset="-122"/>
            </a:endParaRPr>
          </a:p>
        </p:txBody>
      </p:sp>
      <p:sp>
        <p:nvSpPr>
          <p:cNvPr id="11" name="文本框 10"/>
          <p:cNvSpPr txBox="true"/>
          <p:nvPr/>
        </p:nvSpPr>
        <p:spPr>
          <a:xfrm>
            <a:off x="4417695" y="1921510"/>
            <a:ext cx="7347585" cy="3138170"/>
          </a:xfrm>
          <a:prstGeom prst="rect">
            <a:avLst/>
          </a:prstGeom>
          <a:noFill/>
        </p:spPr>
        <p:txBody>
          <a:bodyPr wrap="square" rtlCol="0">
            <a:spAutoFit/>
          </a:bodyPr>
          <a:p>
            <a:pPr indent="457200" algn="l" fontAlgn="auto"/>
            <a:r>
              <a:rPr lang="zh-CN" altLang="en-US"/>
              <a:t>党的十八届三中全会审议通过的《中共中央关于全面深化改革若干重大问题的决定》，提出了全面深化改革的指导思想、目标任务、重大原则，描绘了全面深化改革的新蓝图、新愿景、新目标，合理布局了深化改革的战略重点、优先顺序、主攻方向、工作机制、推进方式和时间表、路线图，汇集了全面深化改革的新思想、新论断、新举措，是我们党在新的历史起点上全面深化改革的科学指南和行动纲领。</a:t>
            </a:r>
            <a:endParaRPr lang="zh-CN" altLang="en-US"/>
          </a:p>
          <a:p>
            <a:pPr indent="457200" algn="l" fontAlgn="auto"/>
            <a:r>
              <a:rPr lang="zh-CN" altLang="en-US"/>
              <a:t>2017年10月18日，习近平同志在十九大报告中指出，坚持全面深化改革。必须坚持和完善中国特色社会主义制度，不断推进国家治理体系和治理能力现代化，坚决破除一切不合时宜的思想观念和体制机制弊端，突破利益固化的藩篱，吸收人类文明有益成果，构建系统完备、科学规范、运行有效的制度体系，充分发挥我国社会主义制度优越性</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p:tgtEl>
                                          <p:spTgt spid="10"/>
                                        </p:tgtEl>
                                        <p:attrNameLst>
                                          <p:attrName>ppt_y</p:attrName>
                                        </p:attrNameLst>
                                      </p:cBhvr>
                                      <p:tavLst>
                                        <p:tav tm="0">
                                          <p:val>
                                            <p:strVal val="#ppt_y+#ppt_h*1.125000"/>
                                          </p:val>
                                        </p:tav>
                                        <p:tav tm="100000">
                                          <p:val>
                                            <p:strVal val="#ppt_y"/>
                                          </p:val>
                                        </p:tav>
                                      </p:tavLst>
                                    </p:anim>
                                    <p:animEffect transition="in" filter="wipe(up)">
                                      <p:cBhvr>
                                        <p:cTn id="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true"/>
          </p:cNvPicPr>
          <p:nvPr/>
        </p:nvPicPr>
        <p:blipFill>
          <a:blip r:embed="rId1" cstate="screen"/>
          <a:stretch>
            <a:fillRect/>
          </a:stretch>
        </p:blipFill>
        <p:spPr>
          <a:xfrm>
            <a:off x="329565" y="308610"/>
            <a:ext cx="582930" cy="604520"/>
          </a:xfrm>
          <a:prstGeom prst="rect">
            <a:avLst/>
          </a:prstGeom>
        </p:spPr>
      </p:pic>
      <p:sp>
        <p:nvSpPr>
          <p:cNvPr id="10" name="矩形 9"/>
          <p:cNvSpPr/>
          <p:nvPr/>
        </p:nvSpPr>
        <p:spPr>
          <a:xfrm>
            <a:off x="511810" y="1579245"/>
            <a:ext cx="2802890" cy="596900"/>
          </a:xfrm>
          <a:prstGeom prst="rect">
            <a:avLst/>
          </a:prstGeom>
          <a:solidFill>
            <a:srgbClr val="C7020C"/>
          </a:solidFill>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11" name="文本框 10"/>
          <p:cNvSpPr txBox="true"/>
          <p:nvPr/>
        </p:nvSpPr>
        <p:spPr>
          <a:xfrm>
            <a:off x="511810" y="1807845"/>
            <a:ext cx="2771775" cy="368300"/>
          </a:xfrm>
          <a:prstGeom prst="rect">
            <a:avLst/>
          </a:prstGeom>
          <a:noFill/>
        </p:spPr>
        <p:txBody>
          <a:bodyPr wrap="square" rtlCol="0">
            <a:spAutoFit/>
          </a:bodyPr>
          <a:p>
            <a:pPr algn="ctr"/>
            <a:r>
              <a:rPr lang="zh-CN" altLang="en-US">
                <a:solidFill>
                  <a:schemeClr val="bg1"/>
                </a:solidFill>
              </a:rPr>
              <a:t>坚定不移地全面深化改革</a:t>
            </a:r>
            <a:endParaRPr lang="zh-CN" altLang="en-US">
              <a:solidFill>
                <a:schemeClr val="bg1"/>
              </a:solidFill>
            </a:endParaRPr>
          </a:p>
        </p:txBody>
      </p:sp>
      <p:sp>
        <p:nvSpPr>
          <p:cNvPr id="14" name="矩形 13"/>
          <p:cNvSpPr/>
          <p:nvPr/>
        </p:nvSpPr>
        <p:spPr>
          <a:xfrm>
            <a:off x="4709795" y="1579245"/>
            <a:ext cx="2802890" cy="596900"/>
          </a:xfrm>
          <a:prstGeom prst="rect">
            <a:avLst/>
          </a:prstGeom>
          <a:solidFill>
            <a:srgbClr val="C7020C"/>
          </a:solidFill>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15" name="文本框 14"/>
          <p:cNvSpPr txBox="true"/>
          <p:nvPr/>
        </p:nvSpPr>
        <p:spPr>
          <a:xfrm>
            <a:off x="4709795" y="1807845"/>
            <a:ext cx="2802890" cy="368300"/>
          </a:xfrm>
          <a:prstGeom prst="rect">
            <a:avLst/>
          </a:prstGeom>
          <a:noFill/>
        </p:spPr>
        <p:txBody>
          <a:bodyPr wrap="square" rtlCol="0">
            <a:spAutoFit/>
          </a:bodyPr>
          <a:p>
            <a:pPr algn="ctr"/>
            <a:r>
              <a:rPr lang="zh-CN" altLang="en-US">
                <a:solidFill>
                  <a:schemeClr val="bg1"/>
                </a:solidFill>
              </a:rPr>
              <a:t>全面深化改革总目标</a:t>
            </a:r>
            <a:endParaRPr lang="zh-CN" altLang="en-US">
              <a:solidFill>
                <a:schemeClr val="bg1"/>
              </a:solidFill>
            </a:endParaRPr>
          </a:p>
        </p:txBody>
      </p:sp>
      <p:sp>
        <p:nvSpPr>
          <p:cNvPr id="16" name="矩形 15"/>
          <p:cNvSpPr/>
          <p:nvPr/>
        </p:nvSpPr>
        <p:spPr>
          <a:xfrm>
            <a:off x="7967980" y="1579245"/>
            <a:ext cx="3994150" cy="596900"/>
          </a:xfrm>
          <a:prstGeom prst="rect">
            <a:avLst/>
          </a:prstGeom>
          <a:solidFill>
            <a:srgbClr val="C7020C"/>
          </a:solidFill>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17" name="文本框 16"/>
          <p:cNvSpPr txBox="true"/>
          <p:nvPr/>
        </p:nvSpPr>
        <p:spPr>
          <a:xfrm>
            <a:off x="7969885" y="1807845"/>
            <a:ext cx="4225925" cy="368300"/>
          </a:xfrm>
          <a:prstGeom prst="rect">
            <a:avLst/>
          </a:prstGeom>
          <a:noFill/>
        </p:spPr>
        <p:txBody>
          <a:bodyPr wrap="square" rtlCol="0">
            <a:spAutoFit/>
          </a:bodyPr>
          <a:p>
            <a:pPr algn="ctr"/>
            <a:r>
              <a:rPr lang="zh-CN" altLang="en-US">
                <a:solidFill>
                  <a:schemeClr val="bg1"/>
                </a:solidFill>
              </a:rPr>
              <a:t>正确处理全面深化改革中的重大关系</a:t>
            </a:r>
            <a:endParaRPr lang="zh-CN" altLang="en-US">
              <a:solidFill>
                <a:schemeClr val="bg1"/>
              </a:solidFill>
            </a:endParaRPr>
          </a:p>
        </p:txBody>
      </p:sp>
      <p:sp>
        <p:nvSpPr>
          <p:cNvPr id="18" name="矩形 17"/>
          <p:cNvSpPr/>
          <p:nvPr/>
        </p:nvSpPr>
        <p:spPr>
          <a:xfrm>
            <a:off x="4709795" y="2437130"/>
            <a:ext cx="2802890" cy="3712210"/>
          </a:xfrm>
          <a:prstGeom prst="rect">
            <a:avLst/>
          </a:prstGeom>
          <a:noFill/>
          <a:ln>
            <a:solidFill>
              <a:srgbClr val="C7020C"/>
            </a:solidFill>
          </a:ln>
          <a:extLst>
            <a:ext uri="{909E8E84-426E-40DD-AFC4-6F175D3DCCD1}">
              <a14:hiddenFill xmlns:a14="http://schemas.microsoft.com/office/drawing/2010/main">
                <a:solidFill>
                  <a:srgbClr val="C7020C"/>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 name="矩形 18"/>
          <p:cNvSpPr/>
          <p:nvPr/>
        </p:nvSpPr>
        <p:spPr>
          <a:xfrm>
            <a:off x="511810" y="2437130"/>
            <a:ext cx="2802890" cy="3712210"/>
          </a:xfrm>
          <a:prstGeom prst="rect">
            <a:avLst/>
          </a:prstGeom>
          <a:noFill/>
          <a:ln>
            <a:solidFill>
              <a:srgbClr val="C7020C"/>
            </a:solidFill>
          </a:ln>
          <a:extLst>
            <a:ext uri="{909E8E84-426E-40DD-AFC4-6F175D3DCCD1}">
              <a14:hiddenFill xmlns:a14="http://schemas.microsoft.com/office/drawing/2010/main">
                <a:solidFill>
                  <a:srgbClr val="C7020C"/>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矩形 19"/>
          <p:cNvSpPr/>
          <p:nvPr/>
        </p:nvSpPr>
        <p:spPr>
          <a:xfrm>
            <a:off x="7969885" y="2417445"/>
            <a:ext cx="3992245" cy="3712210"/>
          </a:xfrm>
          <a:prstGeom prst="rect">
            <a:avLst/>
          </a:prstGeom>
          <a:noFill/>
          <a:ln>
            <a:solidFill>
              <a:srgbClr val="C7020C"/>
            </a:solidFill>
          </a:ln>
          <a:extLst>
            <a:ext uri="{909E8E84-426E-40DD-AFC4-6F175D3DCCD1}">
              <a14:hiddenFill xmlns:a14="http://schemas.microsoft.com/office/drawing/2010/main">
                <a:solidFill>
                  <a:srgbClr val="C7020C"/>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 name="文本框 20"/>
          <p:cNvSpPr txBox="true"/>
          <p:nvPr/>
        </p:nvSpPr>
        <p:spPr>
          <a:xfrm>
            <a:off x="1136015" y="544830"/>
            <a:ext cx="1554480" cy="368300"/>
          </a:xfrm>
          <a:prstGeom prst="rect">
            <a:avLst/>
          </a:prstGeom>
          <a:noFill/>
        </p:spPr>
        <p:txBody>
          <a:bodyPr wrap="none" rtlCol="0">
            <a:spAutoFit/>
          </a:bodyPr>
          <a:p>
            <a:r>
              <a:rPr lang="zh-CN" altLang="en-US">
                <a:solidFill>
                  <a:srgbClr val="FF0000"/>
                </a:solidFill>
              </a:rPr>
              <a:t>全面深化改革</a:t>
            </a:r>
            <a:endParaRPr lang="zh-CN" altLang="en-US">
              <a:solidFill>
                <a:srgbClr val="FF0000"/>
              </a:solidFill>
            </a:endParaRPr>
          </a:p>
        </p:txBody>
      </p:sp>
      <p:sp>
        <p:nvSpPr>
          <p:cNvPr id="22" name="文本框 21"/>
          <p:cNvSpPr txBox="true"/>
          <p:nvPr/>
        </p:nvSpPr>
        <p:spPr>
          <a:xfrm>
            <a:off x="511810" y="2519045"/>
            <a:ext cx="2771775" cy="3692525"/>
          </a:xfrm>
          <a:prstGeom prst="rect">
            <a:avLst/>
          </a:prstGeom>
          <a:noFill/>
        </p:spPr>
        <p:txBody>
          <a:bodyPr wrap="square" rtlCol="0">
            <a:spAutoFit/>
          </a:bodyPr>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r>
              <a:rPr lang="en-US" altLang="zh-CN"/>
              <a:t>                                 </a:t>
            </a:r>
            <a:endParaRPr lang="en-US" altLang="zh-CN"/>
          </a:p>
        </p:txBody>
      </p:sp>
      <p:sp>
        <p:nvSpPr>
          <p:cNvPr id="23" name="文本框 22"/>
          <p:cNvSpPr txBox="true"/>
          <p:nvPr/>
        </p:nvSpPr>
        <p:spPr>
          <a:xfrm>
            <a:off x="4709795" y="2437130"/>
            <a:ext cx="2771775" cy="4246245"/>
          </a:xfrm>
          <a:prstGeom prst="rect">
            <a:avLst/>
          </a:prstGeom>
          <a:noFill/>
        </p:spPr>
        <p:txBody>
          <a:bodyPr wrap="square" rtlCol="0">
            <a:spAutoFit/>
          </a:bodyPr>
          <a:p>
            <a:endParaRPr lang="zh-CN" altLang="en-US"/>
          </a:p>
          <a:p>
            <a:r>
              <a:rPr lang="zh-CN" altLang="en-US"/>
              <a:t>完善和发展中国特色社会主义制度.推进国家治理体系和治理能力现代化</a:t>
            </a:r>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r>
              <a:rPr lang="en-US" altLang="zh-CN"/>
              <a:t>                                 </a:t>
            </a:r>
            <a:endParaRPr lang="en-US" altLang="zh-CN"/>
          </a:p>
        </p:txBody>
      </p:sp>
      <p:sp>
        <p:nvSpPr>
          <p:cNvPr id="24" name="文本框 23"/>
          <p:cNvSpPr txBox="true"/>
          <p:nvPr/>
        </p:nvSpPr>
        <p:spPr>
          <a:xfrm>
            <a:off x="8202930" y="2437765"/>
            <a:ext cx="3867785" cy="3692525"/>
          </a:xfrm>
          <a:prstGeom prst="rect">
            <a:avLst/>
          </a:prstGeom>
          <a:noFill/>
        </p:spPr>
        <p:txBody>
          <a:bodyPr wrap="square" rtlCol="0">
            <a:spAutoFit/>
          </a:bodyPr>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r>
              <a:rPr lang="en-US" altLang="zh-CN"/>
              <a:t>                                 </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7780" y="1113155"/>
            <a:ext cx="3861435" cy="954405"/>
          </a:xfrm>
          <a:prstGeom prst="rect">
            <a:avLst/>
          </a:prstGeom>
          <a:solidFill>
            <a:srgbClr val="FF0000"/>
          </a:solidFill>
          <a:ln>
            <a:solidFill>
              <a:srgbClr val="C7020C"/>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3" name="图片 2"/>
          <p:cNvPicPr>
            <a:picLocks noChangeAspect="true"/>
          </p:cNvPicPr>
          <p:nvPr/>
        </p:nvPicPr>
        <p:blipFill>
          <a:blip r:embed="rId2" cstate="screen"/>
          <a:stretch>
            <a:fillRect/>
          </a:stretch>
        </p:blipFill>
        <p:spPr>
          <a:xfrm>
            <a:off x="329565" y="308610"/>
            <a:ext cx="582930" cy="604520"/>
          </a:xfrm>
          <a:prstGeom prst="rect">
            <a:avLst/>
          </a:prstGeom>
        </p:spPr>
      </p:pic>
      <p:sp>
        <p:nvSpPr>
          <p:cNvPr id="21" name="文本框 20"/>
          <p:cNvSpPr txBox="true"/>
          <p:nvPr/>
        </p:nvSpPr>
        <p:spPr>
          <a:xfrm>
            <a:off x="1136015" y="544830"/>
            <a:ext cx="1554480" cy="368300"/>
          </a:xfrm>
          <a:prstGeom prst="rect">
            <a:avLst/>
          </a:prstGeom>
          <a:noFill/>
        </p:spPr>
        <p:txBody>
          <a:bodyPr wrap="none" rtlCol="0">
            <a:spAutoFit/>
          </a:bodyPr>
          <a:p>
            <a:r>
              <a:rPr lang="zh-CN" altLang="en-US">
                <a:solidFill>
                  <a:srgbClr val="FF0000"/>
                </a:solidFill>
              </a:rPr>
              <a:t>全面深化改革</a:t>
            </a:r>
            <a:endParaRPr lang="zh-CN" altLang="en-US">
              <a:solidFill>
                <a:srgbClr val="FF0000"/>
              </a:solidFill>
            </a:endParaRPr>
          </a:p>
        </p:txBody>
      </p:sp>
      <p:sp>
        <p:nvSpPr>
          <p:cNvPr id="24" name="文本框 23"/>
          <p:cNvSpPr txBox="true"/>
          <p:nvPr/>
        </p:nvSpPr>
        <p:spPr>
          <a:xfrm>
            <a:off x="8202930" y="2437765"/>
            <a:ext cx="3867785" cy="3692525"/>
          </a:xfrm>
          <a:prstGeom prst="rect">
            <a:avLst/>
          </a:prstGeom>
          <a:noFill/>
        </p:spPr>
        <p:txBody>
          <a:bodyPr wrap="square" rtlCol="0">
            <a:spAutoFit/>
          </a:bodyPr>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r>
              <a:rPr lang="en-US" altLang="zh-CN"/>
              <a:t>                                 </a:t>
            </a:r>
            <a:endParaRPr lang="en-US" altLang="zh-CN"/>
          </a:p>
        </p:txBody>
      </p:sp>
      <p:sp>
        <p:nvSpPr>
          <p:cNvPr id="2" name="文本框 1"/>
          <p:cNvSpPr txBox="true"/>
          <p:nvPr/>
        </p:nvSpPr>
        <p:spPr>
          <a:xfrm>
            <a:off x="-17780" y="1360170"/>
            <a:ext cx="3535680" cy="460375"/>
          </a:xfrm>
          <a:prstGeom prst="rect">
            <a:avLst/>
          </a:prstGeom>
          <a:noFill/>
        </p:spPr>
        <p:txBody>
          <a:bodyPr wrap="none" rtlCol="0">
            <a:spAutoFit/>
          </a:bodyPr>
          <a:p>
            <a:r>
              <a:rPr lang="zh-CN" altLang="en-US" sz="2400">
                <a:solidFill>
                  <a:schemeClr val="bg1"/>
                </a:solidFill>
              </a:rPr>
              <a:t>为什么要全面深化改革？</a:t>
            </a:r>
            <a:endParaRPr lang="zh-CN" altLang="en-US" sz="2400">
              <a:solidFill>
                <a:schemeClr val="bg1"/>
              </a:solidFill>
            </a:endParaRPr>
          </a:p>
        </p:txBody>
      </p:sp>
      <p:graphicFrame>
        <p:nvGraphicFramePr>
          <p:cNvPr id="6" name="图表 5"/>
          <p:cNvGraphicFramePr/>
          <p:nvPr/>
        </p:nvGraphicFramePr>
        <p:xfrm>
          <a:off x="1464310" y="1631950"/>
          <a:ext cx="8665210" cy="465899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3"/>
          <p:cNvGrpSpPr/>
          <p:nvPr/>
        </p:nvGrpSpPr>
        <p:grpSpPr>
          <a:xfrm>
            <a:off x="969238" y="1881626"/>
            <a:ext cx="3101811" cy="1925875"/>
            <a:chOff x="4877086" y="1002142"/>
            <a:chExt cx="2437824" cy="1513614"/>
          </a:xfrm>
        </p:grpSpPr>
        <p:grpSp>
          <p:nvGrpSpPr>
            <p:cNvPr id="3" name="组合 18"/>
            <p:cNvGrpSpPr/>
            <p:nvPr/>
          </p:nvGrpSpPr>
          <p:grpSpPr>
            <a:xfrm>
              <a:off x="4877086" y="1002142"/>
              <a:ext cx="2437824" cy="1513614"/>
              <a:chOff x="749490" y="1780093"/>
              <a:chExt cx="4179592" cy="2595056"/>
            </a:xfrm>
            <a:solidFill>
              <a:srgbClr val="C00000"/>
            </a:solidFill>
          </p:grpSpPr>
          <p:sp>
            <p:nvSpPr>
              <p:cNvPr id="5" name="Freeform 5"/>
              <p:cNvSpPr/>
              <p:nvPr/>
            </p:nvSpPr>
            <p:spPr bwMode="auto">
              <a:xfrm rot="391565">
                <a:off x="847620" y="1780093"/>
                <a:ext cx="4081462" cy="2565399"/>
              </a:xfrm>
              <a:custGeom>
                <a:avLst/>
                <a:gdLst>
                  <a:gd name="T0" fmla="*/ 14 w 321"/>
                  <a:gd name="T1" fmla="*/ 31 h 201"/>
                  <a:gd name="T2" fmla="*/ 90 w 321"/>
                  <a:gd name="T3" fmla="*/ 2 h 201"/>
                  <a:gd name="T4" fmla="*/ 163 w 321"/>
                  <a:gd name="T5" fmla="*/ 21 h 201"/>
                  <a:gd name="T6" fmla="*/ 277 w 321"/>
                  <a:gd name="T7" fmla="*/ 26 h 201"/>
                  <a:gd name="T8" fmla="*/ 284 w 321"/>
                  <a:gd name="T9" fmla="*/ 118 h 201"/>
                  <a:gd name="T10" fmla="*/ 321 w 321"/>
                  <a:gd name="T11" fmla="*/ 178 h 201"/>
                  <a:gd name="T12" fmla="*/ 210 w 321"/>
                  <a:gd name="T13" fmla="*/ 185 h 201"/>
                  <a:gd name="T14" fmla="*/ 73 w 321"/>
                  <a:gd name="T15" fmla="*/ 189 h 201"/>
                  <a:gd name="T16" fmla="*/ 12 w 321"/>
                  <a:gd name="T17" fmla="*/ 32 h 201"/>
                  <a:gd name="T18" fmla="*/ 2 w 321"/>
                  <a:gd name="T19" fmla="*/ 19 h 201"/>
                  <a:gd name="T20" fmla="*/ 0 w 321"/>
                  <a:gd name="T21" fmla="*/ 0 h 201"/>
                  <a:gd name="T22" fmla="*/ 12 w 321"/>
                  <a:gd name="T23" fmla="*/ 15 h 201"/>
                  <a:gd name="T24" fmla="*/ 14 w 321"/>
                  <a:gd name="T25" fmla="*/ 31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1" h="201">
                    <a:moveTo>
                      <a:pt x="14" y="31"/>
                    </a:moveTo>
                    <a:cubicBezTo>
                      <a:pt x="14" y="31"/>
                      <a:pt x="41" y="6"/>
                      <a:pt x="90" y="2"/>
                    </a:cubicBezTo>
                    <a:cubicBezTo>
                      <a:pt x="90" y="2"/>
                      <a:pt x="132" y="0"/>
                      <a:pt x="163" y="21"/>
                    </a:cubicBezTo>
                    <a:cubicBezTo>
                      <a:pt x="163" y="21"/>
                      <a:pt x="224" y="60"/>
                      <a:pt x="277" y="26"/>
                    </a:cubicBezTo>
                    <a:cubicBezTo>
                      <a:pt x="277" y="26"/>
                      <a:pt x="265" y="56"/>
                      <a:pt x="284" y="118"/>
                    </a:cubicBezTo>
                    <a:cubicBezTo>
                      <a:pt x="284" y="118"/>
                      <a:pt x="295" y="163"/>
                      <a:pt x="321" y="178"/>
                    </a:cubicBezTo>
                    <a:cubicBezTo>
                      <a:pt x="321" y="178"/>
                      <a:pt x="266" y="201"/>
                      <a:pt x="210" y="185"/>
                    </a:cubicBezTo>
                    <a:cubicBezTo>
                      <a:pt x="210" y="185"/>
                      <a:pt x="134" y="161"/>
                      <a:pt x="73" y="189"/>
                    </a:cubicBezTo>
                    <a:lnTo>
                      <a:pt x="12" y="32"/>
                    </a:lnTo>
                    <a:lnTo>
                      <a:pt x="2" y="19"/>
                    </a:lnTo>
                    <a:lnTo>
                      <a:pt x="0" y="0"/>
                    </a:lnTo>
                    <a:lnTo>
                      <a:pt x="12" y="15"/>
                    </a:lnTo>
                    <a:lnTo>
                      <a:pt x="14" y="31"/>
                    </a:lnTo>
                    <a:close/>
                  </a:path>
                </a:pathLst>
              </a:custGeom>
              <a:grpFill/>
              <a:ln w="12700" cap="flat">
                <a:noFill/>
                <a:prstDash val="solid"/>
                <a:miter lim="800000"/>
              </a:ln>
            </p:spPr>
            <p:txBody>
              <a:bodyPr vert="horz" wrap="square" lIns="91440" tIns="45720" rIns="91440" bIns="45720" numCol="1" anchor="t" anchorCtr="false" compatLnSpc="true"/>
              <a:lstStyle/>
              <a:p>
                <a:endParaRPr lang="zh-CN" altLang="en-US" dirty="0"/>
              </a:p>
            </p:txBody>
          </p:sp>
          <p:sp>
            <p:nvSpPr>
              <p:cNvPr id="6" name="Freeform 5"/>
              <p:cNvSpPr/>
              <p:nvPr/>
            </p:nvSpPr>
            <p:spPr bwMode="auto">
              <a:xfrm rot="208630">
                <a:off x="749490" y="1802892"/>
                <a:ext cx="4081462" cy="2565399"/>
              </a:xfrm>
              <a:custGeom>
                <a:avLst/>
                <a:gdLst>
                  <a:gd name="T0" fmla="*/ 14 w 321"/>
                  <a:gd name="T1" fmla="*/ 31 h 201"/>
                  <a:gd name="T2" fmla="*/ 90 w 321"/>
                  <a:gd name="T3" fmla="*/ 2 h 201"/>
                  <a:gd name="T4" fmla="*/ 163 w 321"/>
                  <a:gd name="T5" fmla="*/ 21 h 201"/>
                  <a:gd name="T6" fmla="*/ 277 w 321"/>
                  <a:gd name="T7" fmla="*/ 26 h 201"/>
                  <a:gd name="T8" fmla="*/ 284 w 321"/>
                  <a:gd name="T9" fmla="*/ 118 h 201"/>
                  <a:gd name="T10" fmla="*/ 321 w 321"/>
                  <a:gd name="T11" fmla="*/ 178 h 201"/>
                  <a:gd name="T12" fmla="*/ 210 w 321"/>
                  <a:gd name="T13" fmla="*/ 185 h 201"/>
                  <a:gd name="T14" fmla="*/ 73 w 321"/>
                  <a:gd name="T15" fmla="*/ 189 h 201"/>
                  <a:gd name="T16" fmla="*/ 12 w 321"/>
                  <a:gd name="T17" fmla="*/ 32 h 201"/>
                  <a:gd name="T18" fmla="*/ 2 w 321"/>
                  <a:gd name="T19" fmla="*/ 19 h 201"/>
                  <a:gd name="T20" fmla="*/ 0 w 321"/>
                  <a:gd name="T21" fmla="*/ 0 h 201"/>
                  <a:gd name="T22" fmla="*/ 12 w 321"/>
                  <a:gd name="T23" fmla="*/ 15 h 201"/>
                  <a:gd name="T24" fmla="*/ 14 w 321"/>
                  <a:gd name="T25" fmla="*/ 31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1" h="201">
                    <a:moveTo>
                      <a:pt x="14" y="31"/>
                    </a:moveTo>
                    <a:cubicBezTo>
                      <a:pt x="14" y="31"/>
                      <a:pt x="41" y="6"/>
                      <a:pt x="90" y="2"/>
                    </a:cubicBezTo>
                    <a:cubicBezTo>
                      <a:pt x="90" y="2"/>
                      <a:pt x="132" y="0"/>
                      <a:pt x="163" y="21"/>
                    </a:cubicBezTo>
                    <a:cubicBezTo>
                      <a:pt x="163" y="21"/>
                      <a:pt x="224" y="60"/>
                      <a:pt x="277" y="26"/>
                    </a:cubicBezTo>
                    <a:cubicBezTo>
                      <a:pt x="277" y="26"/>
                      <a:pt x="265" y="56"/>
                      <a:pt x="284" y="118"/>
                    </a:cubicBezTo>
                    <a:cubicBezTo>
                      <a:pt x="284" y="118"/>
                      <a:pt x="295" y="163"/>
                      <a:pt x="321" y="178"/>
                    </a:cubicBezTo>
                    <a:cubicBezTo>
                      <a:pt x="321" y="178"/>
                      <a:pt x="266" y="201"/>
                      <a:pt x="210" y="185"/>
                    </a:cubicBezTo>
                    <a:cubicBezTo>
                      <a:pt x="210" y="185"/>
                      <a:pt x="134" y="161"/>
                      <a:pt x="73" y="189"/>
                    </a:cubicBezTo>
                    <a:lnTo>
                      <a:pt x="12" y="32"/>
                    </a:lnTo>
                    <a:lnTo>
                      <a:pt x="2" y="19"/>
                    </a:lnTo>
                    <a:lnTo>
                      <a:pt x="0" y="0"/>
                    </a:lnTo>
                    <a:lnTo>
                      <a:pt x="12" y="15"/>
                    </a:lnTo>
                    <a:lnTo>
                      <a:pt x="14" y="31"/>
                    </a:lnTo>
                    <a:close/>
                  </a:path>
                </a:pathLst>
              </a:custGeom>
              <a:grpFill/>
              <a:ln w="12700" cap="flat">
                <a:noFill/>
                <a:prstDash val="solid"/>
                <a:miter lim="800000"/>
              </a:ln>
            </p:spPr>
            <p:txBody>
              <a:bodyPr vert="horz" wrap="square" lIns="91440" tIns="45720" rIns="91440" bIns="45720" numCol="1" anchor="t" anchorCtr="false" compatLnSpc="true"/>
              <a:lstStyle/>
              <a:p>
                <a:endParaRPr lang="zh-CN" altLang="en-US" dirty="0"/>
              </a:p>
            </p:txBody>
          </p:sp>
          <p:sp>
            <p:nvSpPr>
              <p:cNvPr id="7" name="Freeform 5"/>
              <p:cNvSpPr/>
              <p:nvPr/>
            </p:nvSpPr>
            <p:spPr bwMode="auto">
              <a:xfrm rot="21425701">
                <a:off x="798853" y="1809750"/>
                <a:ext cx="4081462" cy="2565399"/>
              </a:xfrm>
              <a:custGeom>
                <a:avLst/>
                <a:gdLst>
                  <a:gd name="T0" fmla="*/ 14 w 321"/>
                  <a:gd name="T1" fmla="*/ 31 h 201"/>
                  <a:gd name="T2" fmla="*/ 90 w 321"/>
                  <a:gd name="T3" fmla="*/ 2 h 201"/>
                  <a:gd name="T4" fmla="*/ 163 w 321"/>
                  <a:gd name="T5" fmla="*/ 21 h 201"/>
                  <a:gd name="T6" fmla="*/ 277 w 321"/>
                  <a:gd name="T7" fmla="*/ 26 h 201"/>
                  <a:gd name="T8" fmla="*/ 284 w 321"/>
                  <a:gd name="T9" fmla="*/ 118 h 201"/>
                  <a:gd name="T10" fmla="*/ 321 w 321"/>
                  <a:gd name="T11" fmla="*/ 178 h 201"/>
                  <a:gd name="T12" fmla="*/ 210 w 321"/>
                  <a:gd name="T13" fmla="*/ 185 h 201"/>
                  <a:gd name="T14" fmla="*/ 73 w 321"/>
                  <a:gd name="T15" fmla="*/ 189 h 201"/>
                  <a:gd name="T16" fmla="*/ 12 w 321"/>
                  <a:gd name="T17" fmla="*/ 32 h 201"/>
                  <a:gd name="T18" fmla="*/ 2 w 321"/>
                  <a:gd name="T19" fmla="*/ 19 h 201"/>
                  <a:gd name="T20" fmla="*/ 0 w 321"/>
                  <a:gd name="T21" fmla="*/ 0 h 201"/>
                  <a:gd name="T22" fmla="*/ 12 w 321"/>
                  <a:gd name="T23" fmla="*/ 15 h 201"/>
                  <a:gd name="T24" fmla="*/ 14 w 321"/>
                  <a:gd name="T25" fmla="*/ 31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1" h="201">
                    <a:moveTo>
                      <a:pt x="14" y="31"/>
                    </a:moveTo>
                    <a:cubicBezTo>
                      <a:pt x="14" y="31"/>
                      <a:pt x="41" y="6"/>
                      <a:pt x="90" y="2"/>
                    </a:cubicBezTo>
                    <a:cubicBezTo>
                      <a:pt x="90" y="2"/>
                      <a:pt x="132" y="0"/>
                      <a:pt x="163" y="21"/>
                    </a:cubicBezTo>
                    <a:cubicBezTo>
                      <a:pt x="163" y="21"/>
                      <a:pt x="224" y="60"/>
                      <a:pt x="277" y="26"/>
                    </a:cubicBezTo>
                    <a:cubicBezTo>
                      <a:pt x="277" y="26"/>
                      <a:pt x="265" y="56"/>
                      <a:pt x="284" y="118"/>
                    </a:cubicBezTo>
                    <a:cubicBezTo>
                      <a:pt x="284" y="118"/>
                      <a:pt x="295" y="163"/>
                      <a:pt x="321" y="178"/>
                    </a:cubicBezTo>
                    <a:cubicBezTo>
                      <a:pt x="321" y="178"/>
                      <a:pt x="266" y="201"/>
                      <a:pt x="210" y="185"/>
                    </a:cubicBezTo>
                    <a:cubicBezTo>
                      <a:pt x="210" y="185"/>
                      <a:pt x="134" y="161"/>
                      <a:pt x="73" y="189"/>
                    </a:cubicBezTo>
                    <a:lnTo>
                      <a:pt x="12" y="32"/>
                    </a:lnTo>
                    <a:lnTo>
                      <a:pt x="2" y="19"/>
                    </a:lnTo>
                    <a:lnTo>
                      <a:pt x="0" y="0"/>
                    </a:lnTo>
                    <a:lnTo>
                      <a:pt x="12" y="15"/>
                    </a:lnTo>
                    <a:lnTo>
                      <a:pt x="14" y="31"/>
                    </a:lnTo>
                    <a:close/>
                  </a:path>
                </a:pathLst>
              </a:custGeom>
              <a:grpFill/>
              <a:ln w="12700" cap="flat">
                <a:noFill/>
                <a:prstDash val="solid"/>
                <a:miter lim="800000"/>
              </a:ln>
            </p:spPr>
            <p:txBody>
              <a:bodyPr vert="horz" wrap="square" lIns="91440" tIns="45720" rIns="91440" bIns="45720" numCol="1" anchor="t" anchorCtr="false" compatLnSpc="true"/>
              <a:lstStyle/>
              <a:p>
                <a:endParaRPr lang="zh-CN" altLang="en-US" dirty="0"/>
              </a:p>
            </p:txBody>
          </p:sp>
        </p:grpSp>
        <p:sp>
          <p:nvSpPr>
            <p:cNvPr id="4" name="文本框 3"/>
            <p:cNvSpPr txBox="true"/>
            <p:nvPr/>
          </p:nvSpPr>
          <p:spPr>
            <a:xfrm>
              <a:off x="5700519" y="1433022"/>
              <a:ext cx="1175893" cy="725678"/>
            </a:xfrm>
            <a:prstGeom prst="rect">
              <a:avLst/>
            </a:prstGeom>
            <a:noFill/>
          </p:spPr>
          <p:txBody>
            <a:bodyPr wrap="square" rtlCol="0">
              <a:spAutoFit/>
            </a:bodyPr>
            <a:lstStyle/>
            <a:p>
              <a:r>
                <a:rPr lang="en-US" altLang="zh-CN" sz="5400" i="1" dirty="0" smtClean="0">
                  <a:solidFill>
                    <a:schemeClr val="bg1"/>
                  </a:solidFill>
                  <a:latin typeface="Avenir Medium Oblique" charset="0"/>
                  <a:ea typeface="Avenir Medium Oblique" charset="0"/>
                  <a:cs typeface="Avenir Medium Oblique" charset="0"/>
                </a:rPr>
                <a:t>02</a:t>
              </a:r>
              <a:endParaRPr lang="zh-CN" altLang="en-US" sz="5400" i="1" dirty="0">
                <a:solidFill>
                  <a:schemeClr val="bg1"/>
                </a:solidFill>
                <a:latin typeface="Avenir Medium Oblique" charset="0"/>
                <a:ea typeface="Avenir Medium Oblique" charset="0"/>
                <a:cs typeface="Avenir Medium Oblique" charset="0"/>
              </a:endParaRPr>
            </a:p>
          </p:txBody>
        </p:sp>
      </p:grpSp>
      <p:pic>
        <p:nvPicPr>
          <p:cNvPr id="8" name="图片 7"/>
          <p:cNvPicPr>
            <a:picLocks noChangeAspect="true"/>
          </p:cNvPicPr>
          <p:nvPr/>
        </p:nvPicPr>
        <p:blipFill>
          <a:blip r:embed="rId1" cstate="screen"/>
          <a:stretch>
            <a:fillRect/>
          </a:stretch>
        </p:blipFill>
        <p:spPr>
          <a:xfrm>
            <a:off x="4198822" y="724097"/>
            <a:ext cx="1604134" cy="1663087"/>
          </a:xfrm>
          <a:prstGeom prst="rect">
            <a:avLst/>
          </a:prstGeom>
        </p:spPr>
      </p:pic>
      <p:sp>
        <p:nvSpPr>
          <p:cNvPr id="9" name="矩形 8"/>
          <p:cNvSpPr/>
          <p:nvPr/>
        </p:nvSpPr>
        <p:spPr>
          <a:xfrm>
            <a:off x="4081347" y="2430364"/>
            <a:ext cx="5334922" cy="15642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4400" b="1" dirty="0">
                <a:solidFill>
                  <a:srgbClr val="C00000"/>
                </a:solidFill>
                <a:latin typeface="Microsoft YaHei" charset="-122"/>
                <a:ea typeface="Microsoft YaHei" charset="-122"/>
                <a:cs typeface="Microsoft YaHei" charset="-122"/>
              </a:rPr>
              <a:t>全面依法治国</a:t>
            </a:r>
            <a:endParaRPr kumimoji="1" lang="zh-CN" altLang="en-US" sz="4400" b="1" dirty="0">
              <a:solidFill>
                <a:srgbClr val="C00000"/>
              </a:solidFill>
              <a:latin typeface="Microsoft YaHei" charset="-122"/>
              <a:ea typeface="Microsoft YaHei" charset="-122"/>
              <a:cs typeface="Microsoft YaHei"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ppt_w</p:attrName>
                                        </p:attrNameLst>
                                      </p:cBhvr>
                                      <p:tavLst>
                                        <p:tav tm="0">
                                          <p:val>
                                            <p:fltVal val="0"/>
                                          </p:val>
                                        </p:tav>
                                        <p:tav tm="100000">
                                          <p:val>
                                            <p:strVal val="#ppt_w"/>
                                          </p:val>
                                        </p:tav>
                                      </p:tavLst>
                                    </p:anim>
                                    <p:anim calcmode="lin" valueType="num">
                                      <p:cBhvr>
                                        <p:cTn id="16" dur="500" fill="hold"/>
                                        <p:tgtEl>
                                          <p:spTgt spid="8"/>
                                        </p:tgtEl>
                                        <p:attrNameLst>
                                          <p:attrName>ppt_h</p:attrName>
                                        </p:attrNameLst>
                                      </p:cBhvr>
                                      <p:tavLst>
                                        <p:tav tm="0">
                                          <p:val>
                                            <p:fltVal val="0"/>
                                          </p:val>
                                        </p:tav>
                                        <p:tav tm="100000">
                                          <p:val>
                                            <p:strVal val="#ppt_h"/>
                                          </p:val>
                                        </p:tav>
                                      </p:tavLst>
                                    </p:anim>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checkerboard(across)">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tru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 1"/>
          <p:cNvGrpSpPr/>
          <p:nvPr/>
        </p:nvGrpSpPr>
        <p:grpSpPr>
          <a:xfrm>
            <a:off x="329783" y="308873"/>
            <a:ext cx="4645375" cy="604467"/>
            <a:chOff x="4483635" y="-255945"/>
            <a:chExt cx="4645375" cy="604467"/>
          </a:xfrm>
        </p:grpSpPr>
        <p:pic>
          <p:nvPicPr>
            <p:cNvPr id="3" name="图片 2"/>
            <p:cNvPicPr>
              <a:picLocks noChangeAspect="true"/>
            </p:cNvPicPr>
            <p:nvPr/>
          </p:nvPicPr>
          <p:blipFill>
            <a:blip r:embed="rId1" cstate="screen"/>
            <a:stretch>
              <a:fillRect/>
            </a:stretch>
          </p:blipFill>
          <p:spPr>
            <a:xfrm>
              <a:off x="4483635" y="-255945"/>
              <a:ext cx="583040" cy="604467"/>
            </a:xfrm>
            <a:prstGeom prst="rect">
              <a:avLst/>
            </a:prstGeom>
          </p:spPr>
        </p:pic>
        <p:sp>
          <p:nvSpPr>
            <p:cNvPr id="4" name="矩形 3"/>
            <p:cNvSpPr/>
            <p:nvPr/>
          </p:nvSpPr>
          <p:spPr>
            <a:xfrm>
              <a:off x="5066675" y="-177188"/>
              <a:ext cx="4062335" cy="455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2400" b="1" dirty="0">
                  <a:solidFill>
                    <a:srgbClr val="C00000"/>
                  </a:solidFill>
                  <a:latin typeface="Microsoft YaHei" charset="-122"/>
                  <a:ea typeface="Microsoft YaHei" charset="-122"/>
                  <a:cs typeface="Microsoft YaHei" charset="-122"/>
                </a:rPr>
                <a:t>全面依法治国</a:t>
              </a:r>
              <a:endParaRPr kumimoji="1" lang="zh-CN" altLang="en-US" sz="2400" b="1" dirty="0">
                <a:solidFill>
                  <a:srgbClr val="C00000"/>
                </a:solidFill>
                <a:latin typeface="Microsoft YaHei" charset="-122"/>
                <a:ea typeface="Microsoft YaHei" charset="-122"/>
                <a:cs typeface="Microsoft YaHei"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theme/theme1.xml><?xml version="1.0" encoding="utf-8"?>
<a:theme xmlns:a="http://schemas.openxmlformats.org/drawingml/2006/main" name="第一PPT，www.1ppt.com">
  <a:themeElements>
    <a:clrScheme name="自定义 2">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79646"/>
      </a:hlink>
      <a:folHlink>
        <a:srgbClr val="F79646"/>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true">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false"/>
        </a:gradFill>
        <a:gradFill rotWithShape="true">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false"/>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true">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false"/>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true">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false"/>
        </a:gradFill>
        <a:gradFill rotWithShape="true">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false"/>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true">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false"/>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1183</Words>
  <Application>WPS 演示</Application>
  <PresentationFormat>自定义</PresentationFormat>
  <Paragraphs>140</Paragraphs>
  <Slides>13</Slides>
  <Notes>0</Notes>
  <HiddenSlides>0</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13</vt:i4>
      </vt:variant>
    </vt:vector>
  </HeadingPairs>
  <TitlesOfParts>
    <vt:vector size="39" baseType="lpstr">
      <vt:lpstr>Arial</vt:lpstr>
      <vt:lpstr>宋体</vt:lpstr>
      <vt:lpstr>Wingdings</vt:lpstr>
      <vt:lpstr>Nimbus Roman No9 L</vt:lpstr>
      <vt:lpstr>宋体</vt:lpstr>
      <vt:lpstr>Droid Sans Fallback</vt:lpstr>
      <vt:lpstr>方正粗黑宋简体</vt:lpstr>
      <vt:lpstr>微软雅黑</vt:lpstr>
      <vt:lpstr>方正兰亭粗黑_GBK</vt:lpstr>
      <vt:lpstr>Microsoft YaHei</vt:lpstr>
      <vt:lpstr>DIN Mittelschrift Std</vt:lpstr>
      <vt:lpstr>Impact</vt:lpstr>
      <vt:lpstr>Gubbi</vt:lpstr>
      <vt:lpstr>Avenir Medium Oblique</vt:lpstr>
      <vt:lpstr>Avenir Medium</vt:lpstr>
      <vt:lpstr>Microsoft YaHei Light</vt:lpstr>
      <vt:lpstr>Arial</vt:lpstr>
      <vt:lpstr>微软雅黑</vt:lpstr>
      <vt:lpstr>宋体</vt:lpstr>
      <vt:lpstr>Arial Unicode MS</vt:lpstr>
      <vt:lpstr>Calibri</vt:lpstr>
      <vt:lpstr>DejaVu Sans</vt:lpstr>
      <vt:lpstr>等线</vt:lpstr>
      <vt:lpstr>AR PL UKai CN</vt:lpstr>
      <vt:lpstr>Standard Symbols PS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建党节</dc:title>
  <dc:creator>第一PPT</dc:creator>
  <cp:keywords>www.1ppt.com</cp:keywords>
  <dc:description>www.1ppt.com</dc:description>
  <cp:lastModifiedBy>yan</cp:lastModifiedBy>
  <cp:revision>101</cp:revision>
  <dcterms:created xsi:type="dcterms:W3CDTF">2021-05-26T01:50:08Z</dcterms:created>
  <dcterms:modified xsi:type="dcterms:W3CDTF">2021-05-26T01:50:08Z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2052-11.1.0.10161</vt:lpwstr>
  </property>
</Properties>
</file>